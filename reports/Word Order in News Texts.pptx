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1" r:id="rId8"/>
    <p:sldId id="272" r:id="rId9"/>
    <p:sldId id="273" r:id="rId10"/>
    <p:sldId id="260" r:id="rId11"/>
    <p:sldId id="263" r:id="rId12"/>
    <p:sldId id="261" r:id="rId13"/>
    <p:sldId id="262" r:id="rId14"/>
    <p:sldId id="270" r:id="rId15"/>
    <p:sldId id="266" r:id="rId16"/>
    <p:sldId id="267" r:id="rId17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5BEEC2D-F4B6-7A89-B2D3-11EC3EBA17F3}"/>
              </a:ext>
            </a:extLst>
          </p:cNvPr>
          <p:cNvSpPr/>
          <p:nvPr/>
        </p:nvSpPr>
        <p:spPr>
          <a:xfrm>
            <a:off x="3172" y="6400800"/>
            <a:ext cx="12188823" cy="457200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3D49A36-3D3A-594E-5854-236547742CEA}"/>
              </a:ext>
            </a:extLst>
          </p:cNvPr>
          <p:cNvSpPr/>
          <p:nvPr/>
        </p:nvSpPr>
        <p:spPr>
          <a:xfrm>
            <a:off x="18" y="6334313"/>
            <a:ext cx="12188823" cy="64008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F0451C-757D-B091-9323-41A0EFD6941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EBB5E75-1597-3CF6-F2D4-7794CD02902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0050" y="4455624"/>
            <a:ext cx="10058400" cy="1143000"/>
          </a:xfrm>
        </p:spPr>
        <p:txBody>
          <a:bodyPr lIns="91440" rIns="91440"/>
          <a:lstStyle>
            <a:lvl1pPr marL="0" indent="0">
              <a:buNone/>
              <a:defRPr sz="2400" cap="all" spc="200">
                <a:solidFill>
                  <a:srgbClr val="242852"/>
                </a:solidFill>
                <a:latin typeface="Calibri Light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0ACE71D-A34C-FA5B-4654-2E99DF9F64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3F51E8-8972-A648-A8CB-E37BE4AF9494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1F0EF55-3327-31F0-6D14-389FF2936B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D8E237D-A98E-5915-1D4F-5DD5E5A29CC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25FFB3-31CE-0848-A6F2-092A27A65334}" type="slidenum"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057F4B-F040-75CC-A620-58BE9D0FC467}"/>
              </a:ext>
            </a:extLst>
          </p:cNvPr>
          <p:cNvCxnSpPr/>
          <p:nvPr/>
        </p:nvCxnSpPr>
        <p:spPr>
          <a:xfrm>
            <a:off x="1207657" y="4343400"/>
            <a:ext cx="9875520" cy="0"/>
          </a:xfrm>
          <a:prstGeom prst="straightConnector1">
            <a:avLst/>
          </a:prstGeom>
          <a:noFill/>
          <a:ln w="6345" cap="flat">
            <a:solidFill>
              <a:srgbClr val="7F7F7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7216190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697C-4CF8-B315-4962-7C1E0F1A3E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7D4F9-4C7E-D441-9AA4-082A26552B5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34CD6-7038-F438-EDF1-51277A76ED2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6646EC-AC8C-2A49-894A-A5144AFB29D0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ECEC-17AA-FEED-540F-3010ECC8955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CD54-F609-9788-070F-5CF99CD50C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362F40-9F1B-F64F-95CC-E4FA8B40DC5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3169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D1F6C7E-52F9-4B2B-929F-7082EAA9273D}"/>
              </a:ext>
            </a:extLst>
          </p:cNvPr>
          <p:cNvSpPr/>
          <p:nvPr/>
        </p:nvSpPr>
        <p:spPr>
          <a:xfrm>
            <a:off x="3172" y="6400800"/>
            <a:ext cx="12188823" cy="457200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972B3A7-5419-8D56-B9C6-363D5CE3D968}"/>
              </a:ext>
            </a:extLst>
          </p:cNvPr>
          <p:cNvSpPr/>
          <p:nvPr/>
        </p:nvSpPr>
        <p:spPr>
          <a:xfrm>
            <a:off x="18" y="6334313"/>
            <a:ext cx="12188823" cy="64008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4B3F67-1397-032F-DF46-3C72D63D7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>
              <a:defRPr sz="8000">
                <a:solidFill>
                  <a:srgbClr val="26262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8F4B50-9D3D-86C4-D863-36BF2B386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2400" cap="all" spc="200">
                <a:solidFill>
                  <a:srgbClr val="242852"/>
                </a:solidFill>
                <a:latin typeface="Calibri 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4757530-5579-9F11-CEB5-D2F65B76970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CD423D-0C25-5149-9B96-5746E2F56F08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0E1400-6CA0-CE9B-093A-7F43E9C7581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36655DF-A3EF-ADF0-AF1F-0871A5C4D4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C1BCB5-1A50-B442-B174-D466E8EAA86C}" type="slidenum"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AE0B61-741B-F7E2-8321-224883A802D5}"/>
              </a:ext>
            </a:extLst>
          </p:cNvPr>
          <p:cNvCxnSpPr/>
          <p:nvPr/>
        </p:nvCxnSpPr>
        <p:spPr>
          <a:xfrm>
            <a:off x="1207657" y="4343400"/>
            <a:ext cx="9875520" cy="0"/>
          </a:xfrm>
          <a:prstGeom prst="straightConnector1">
            <a:avLst/>
          </a:prstGeom>
          <a:noFill/>
          <a:ln w="6345" cap="flat">
            <a:solidFill>
              <a:srgbClr val="7F7F7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73946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5EB680C-A60D-E93F-F81B-C068475FCFD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D82E-7ECF-57B5-85DE-BF3BC26963D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7280" y="1845734"/>
            <a:ext cx="4937760" cy="40233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DE9AA-95FC-32EA-F6A8-6F0BB4FD026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17920" y="1845734"/>
            <a:ext cx="4937760" cy="40233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A4673-ACDB-F6F7-3E94-C300F2EDD66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5F5937-7A57-9B4B-9C47-4B1134A6C026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D6F74-4D74-CE56-6528-587ED504A5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88EA2-A320-89BC-EC87-3D1982A4C3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0FAE4F-2D3D-D34F-80EC-499B767DFBD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54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66BE7D32-B977-ACFE-0DE7-F91CCBD0071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011E8-7074-BBA5-FBD8-B310B66A6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7280" y="1846054"/>
            <a:ext cx="4937760" cy="736284"/>
          </a:xfrm>
        </p:spPr>
        <p:txBody>
          <a:bodyPr lIns="91440" rIns="91440" anchor="ctr"/>
          <a:lstStyle>
            <a:lvl1pPr marL="0" indent="0">
              <a:buNone/>
              <a:defRPr cap="all">
                <a:solidFill>
                  <a:srgbClr val="24285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A36BE-213F-E8E1-2085-BE06680D1FF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097280" y="2582329"/>
            <a:ext cx="4937760" cy="337819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36F99-C23B-BEB7-5409-326A2DB24D4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17920" y="1846054"/>
            <a:ext cx="4937760" cy="736284"/>
          </a:xfrm>
        </p:spPr>
        <p:txBody>
          <a:bodyPr lIns="91440" rIns="91440" anchor="ctr"/>
          <a:lstStyle>
            <a:lvl1pPr marL="0" indent="0">
              <a:buNone/>
              <a:defRPr cap="all">
                <a:solidFill>
                  <a:srgbClr val="24285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93CB1-9457-13B9-67D0-052219316632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217920" y="2582329"/>
            <a:ext cx="4937760" cy="337819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B1C39-3A98-553E-BF20-F2E87923C3B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0E40AD-74D5-8F49-B099-C36BD854E14A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521C7-9F5E-84BE-803F-8A1BD8FCDA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055F7-8D45-5EB4-3E4E-1D8A0452B8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BEA4EC-8C4B-B24D-BD02-DC57DA96BAE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33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1607-CE94-2644-5CB3-3118E5842E1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1B102-D743-A577-8092-AE51043A66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BE7C1C-F9C3-A74B-8C4A-42A768FCEEE2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C05F6-7F70-4BB9-F533-F11ECBAFC9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82270-9DFD-1483-61C1-466BFDCDF4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77982EF-4A24-A140-9FA2-B30A336F5F5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47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320176-BC01-7B61-D836-A9D1A1623A88}"/>
              </a:ext>
            </a:extLst>
          </p:cNvPr>
          <p:cNvSpPr/>
          <p:nvPr/>
        </p:nvSpPr>
        <p:spPr>
          <a:xfrm>
            <a:off x="3172" y="6400800"/>
            <a:ext cx="12188823" cy="457200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65E4B8-8B94-F27D-E3B4-FC5712002337}"/>
              </a:ext>
            </a:extLst>
          </p:cNvPr>
          <p:cNvSpPr/>
          <p:nvPr/>
        </p:nvSpPr>
        <p:spPr>
          <a:xfrm>
            <a:off x="18" y="6334313"/>
            <a:ext cx="12188823" cy="64008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B357036C-CAE5-39BF-828D-CFE4727537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D3D7FE-2C80-394D-B426-C0DE933B45BB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F5171848-CF4E-D92B-F4E8-597C4D16BC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B2217AF-1256-9A07-33FA-0702D8D38A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77B845-0B46-B54E-BD1E-74CCAB9A7E1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2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F48B582-0C8E-E1A6-9DC9-E07452B138B9}"/>
              </a:ext>
            </a:extLst>
          </p:cNvPr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489F77E3-3FB4-8DB8-61C2-932D39555536}"/>
              </a:ext>
            </a:extLst>
          </p:cNvPr>
          <p:cNvSpPr/>
          <p:nvPr/>
        </p:nvSpPr>
        <p:spPr>
          <a:xfrm>
            <a:off x="4040075" y="0"/>
            <a:ext cx="64008" cy="6858000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7EA2AB-980B-EEF2-F9DE-3FCCC9B82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3200400" cy="2286000"/>
          </a:xfr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6C78C2-8980-38EA-11FC-8A245CE948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C1C5A3A-9944-67CB-F5B5-BD1B37E4046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19"/>
          </a:xfrm>
        </p:spPr>
        <p:txBody>
          <a:bodyPr lIns="91440" rIns="9144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3E50C7B-BBE1-B535-B10C-B5114AE58E2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465511" y="6459787"/>
            <a:ext cx="2618512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ABEF3E6C-30D0-5E40-B109-6AA686F4C898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CC974FB-7F32-9B04-7BFE-EAF13F9F15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800600" y="6459787"/>
            <a:ext cx="4648196" cy="365129"/>
          </a:xfrm>
        </p:spPr>
        <p:txBody>
          <a:bodyPr anchorCtr="0"/>
          <a:lstStyle>
            <a:lvl1pPr algn="l">
              <a:defRPr>
                <a:solidFill>
                  <a:srgbClr val="242852"/>
                </a:solidFill>
              </a:defRPr>
            </a:lvl1pPr>
          </a:lstStyle>
          <a:p>
            <a:pPr lvl="0"/>
            <a:endParaRPr lang="en-IN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D9B5500-E35E-0713-6B80-A1605292EE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42852"/>
                </a:solidFill>
              </a:defRPr>
            </a:lvl1pPr>
          </a:lstStyle>
          <a:p>
            <a:pPr lvl="0"/>
            <a:fld id="{337C99B9-E884-B545-B0DA-A1FFEC67038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94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986BEAA-05D6-8C9B-45F6-27947989B918}"/>
              </a:ext>
            </a:extLst>
          </p:cNvPr>
          <p:cNvSpPr/>
          <p:nvPr/>
        </p:nvSpPr>
        <p:spPr>
          <a:xfrm>
            <a:off x="0" y="4953003"/>
            <a:ext cx="12188823" cy="1904996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940D24-D3F1-428B-35DD-2CDA35A19D16}"/>
              </a:ext>
            </a:extLst>
          </p:cNvPr>
          <p:cNvSpPr/>
          <p:nvPr/>
        </p:nvSpPr>
        <p:spPr>
          <a:xfrm>
            <a:off x="18" y="4915073"/>
            <a:ext cx="12188823" cy="64008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ADCC83-825E-6CB5-71BF-5BF1B2980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35F3947-BDC2-8E9A-A990-0BEF5B33683A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18" y="0"/>
            <a:ext cx="12191987" cy="4915073"/>
          </a:xfrm>
          <a:blipFill>
            <a:blip r:embed="rId2"/>
            <a:stretch>
              <a:fillRect/>
            </a:stretch>
          </a:blipFill>
        </p:spPr>
        <p:txBody>
          <a:bodyPr lIns="457200" tIns="457200"/>
          <a:lstStyle>
            <a:lvl1pPr marL="0" indent="0">
              <a:buNone/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71A9A52-29F6-A13D-1B4E-2CFF4689053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1C10345-12B5-21DD-C9D5-5E36ED7F8B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220BB0-914F-5646-A4BC-A7A8916AFDB8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19B65BC-7D60-0C91-0B38-C9B7548E3A3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90C38A1-0B6F-ECCF-843D-7807FD705A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6A4C57-907B-3A48-9439-E0DEEABB681B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7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12B7-9230-2629-0CD4-CAB5D15FCFF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215C1-C15D-8569-0891-752CB524C5B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A35CB-4FF5-40C5-7456-8D0339C869D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2C1030-69D7-124A-BD53-69A43C9D7164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85DAE-B222-0AD4-52E4-154595649D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7D208-1A93-7ED6-9EA2-A369FA283F7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0D5BD1-38DC-EE44-98D5-179DD628E8C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15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3155D49-7213-FE64-331E-61E505C054EF}"/>
              </a:ext>
            </a:extLst>
          </p:cNvPr>
          <p:cNvSpPr/>
          <p:nvPr/>
        </p:nvSpPr>
        <p:spPr>
          <a:xfrm>
            <a:off x="3172" y="6400800"/>
            <a:ext cx="12188823" cy="457200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9C1BAB5-E80B-617A-A5C0-D862DCAAD94F}"/>
              </a:ext>
            </a:extLst>
          </p:cNvPr>
          <p:cNvSpPr/>
          <p:nvPr/>
        </p:nvSpPr>
        <p:spPr>
          <a:xfrm>
            <a:off x="18" y="6334313"/>
            <a:ext cx="12188823" cy="64008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Vertical Title 1">
            <a:extLst>
              <a:ext uri="{FF2B5EF4-FFF2-40B4-BE49-F238E27FC236}">
                <a16:creationId xmlns:a16="http://schemas.microsoft.com/office/drawing/2014/main" id="{D009FE15-4E0F-83D3-897F-B4D6AFF24DAE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414780"/>
            <a:ext cx="2628900" cy="575741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Vertical Text Placeholder 2">
            <a:extLst>
              <a:ext uri="{FF2B5EF4-FFF2-40B4-BE49-F238E27FC236}">
                <a16:creationId xmlns:a16="http://schemas.microsoft.com/office/drawing/2014/main" id="{3EC628FF-558B-765B-CD4B-3A1397156CD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414780"/>
            <a:ext cx="7734296" cy="5757419"/>
          </a:xfrm>
        </p:spPr>
        <p:txBody>
          <a:bodyPr vert="eaVert" lIns="45720" tIns="0" rIns="4572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4F548AF-EC82-E061-C88B-557C91F39B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BCAF00-1125-734B-91A5-F3B3C63787A9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371354-BF0F-4F1E-BDEC-3F137FBA9D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48395F6-17C3-7A62-0ED4-08431AA06C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7FBB033-203F-8B43-AE39-54D54BE0940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8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1F5F39E-60F3-DC0A-F180-3CDE645FE766}"/>
              </a:ext>
            </a:extLst>
          </p:cNvPr>
          <p:cNvSpPr/>
          <p:nvPr/>
        </p:nvSpPr>
        <p:spPr>
          <a:xfrm>
            <a:off x="0" y="6400800"/>
            <a:ext cx="12191996" cy="457200"/>
          </a:xfrm>
          <a:prstGeom prst="rect">
            <a:avLst/>
          </a:prstGeom>
          <a:solidFill>
            <a:srgbClr val="629DD1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04BABDA-53D7-6F6B-6E9B-DF8D1DA7CBE1}"/>
              </a:ext>
            </a:extLst>
          </p:cNvPr>
          <p:cNvSpPr/>
          <p:nvPr/>
        </p:nvSpPr>
        <p:spPr>
          <a:xfrm>
            <a:off x="0" y="6334313"/>
            <a:ext cx="12191996" cy="66001"/>
          </a:xfrm>
          <a:prstGeom prst="rect">
            <a:avLst/>
          </a:prstGeom>
          <a:solidFill>
            <a:srgbClr val="4A66AC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KZ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A2074BF-3807-8B12-A718-302CE247B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0"/>
            <a:ext cx="10058400" cy="1450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1AAF39B-04B9-5423-1E4F-AC4EEC8D2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FFEE227-400C-F7B4-9A34-F704533FDE0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97280" y="6459787"/>
            <a:ext cx="2472272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9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lvl="0"/>
            <a:fld id="{462BF0BB-20DD-D84B-9A0E-12ED6044F5A9}" type="datetime1">
              <a:rPr lang="en-IN"/>
              <a:pPr lvl="0"/>
              <a:t>15/01/26</a:t>
            </a:fld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F266D1-90D5-5BB6-B9C4-53117B2F7C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686184" y="6459787"/>
            <a:ext cx="4822801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900" b="0" i="0" u="none" strike="noStrike" kern="1200" cap="all" spc="0" baseline="0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84F558B-1058-F30B-AB04-8C64D75D9A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900455" y="6459787"/>
            <a:ext cx="131202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05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defRPr>
            </a:lvl1pPr>
          </a:lstStyle>
          <a:p>
            <a:pPr lvl="0"/>
            <a:fld id="{196DA952-546F-754C-99D8-C92B973FAA23}" type="slidenum">
              <a:t>‹#›</a:t>
            </a:fld>
            <a:endParaRPr lang="en-IN"/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CB4E548B-0D79-D4FF-A472-CDD349D04762}"/>
              </a:ext>
            </a:extLst>
          </p:cNvPr>
          <p:cNvCxnSpPr/>
          <p:nvPr/>
        </p:nvCxnSpPr>
        <p:spPr>
          <a:xfrm>
            <a:off x="1193529" y="1737844"/>
            <a:ext cx="9966960" cy="0"/>
          </a:xfrm>
          <a:prstGeom prst="straightConnector1">
            <a:avLst/>
          </a:prstGeom>
          <a:noFill/>
          <a:ln w="6345" cap="flat">
            <a:solidFill>
              <a:srgbClr val="7F7F7F"/>
            </a:solidFill>
            <a:prstDash val="soli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85000"/>
        </a:lnSpc>
        <a:spcBef>
          <a:spcPts val="0"/>
        </a:spcBef>
        <a:spcAft>
          <a:spcPts val="0"/>
        </a:spcAft>
        <a:buNone/>
        <a:tabLst/>
        <a:defRPr lang="en-US" sz="4800" b="0" i="0" u="none" strike="noStrike" kern="1200" cap="none" spc="-50" baseline="0">
          <a:solidFill>
            <a:srgbClr val="404040"/>
          </a:solidFill>
          <a:uFillTx/>
          <a:latin typeface="Calibri Light"/>
        </a:defRPr>
      </a:lvl1pPr>
    </p:titleStyle>
    <p:bodyStyle>
      <a:lvl1pPr marL="91440" marR="0" lvl="0" indent="-91440" algn="l" defTabSz="914400" rtl="0" fontAlgn="auto" hangingPunct="1">
        <a:lnSpc>
          <a:spcPct val="90000"/>
        </a:lnSpc>
        <a:spcBef>
          <a:spcPts val="1200"/>
        </a:spcBef>
        <a:spcAft>
          <a:spcPts val="200"/>
        </a:spcAft>
        <a:buClr>
          <a:srgbClr val="4A66AC"/>
        </a:buClr>
        <a:buSzPct val="100000"/>
        <a:buFont typeface="Calibri" pitchFamily="34"/>
        <a:buChar char=" "/>
        <a:tabLst/>
        <a:defRPr lang="en-US" sz="2000" b="0" i="0" u="none" strike="noStrike" kern="1200" cap="none" spc="0" baseline="0">
          <a:solidFill>
            <a:srgbClr val="404040"/>
          </a:solidFill>
          <a:uFillTx/>
          <a:latin typeface="Calibri"/>
        </a:defRPr>
      </a:lvl1pPr>
      <a:lvl2pPr marL="384048" marR="0" lvl="1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4A66AC"/>
        </a:buClr>
        <a:buSzPct val="100000"/>
        <a:buFont typeface="Calibri" pitchFamily="34"/>
        <a:buChar char="◦"/>
        <a:tabLst/>
        <a:defRPr lang="en-US" sz="1800" b="0" i="0" u="none" strike="noStrike" kern="1200" cap="none" spc="0" baseline="0">
          <a:solidFill>
            <a:srgbClr val="404040"/>
          </a:solidFill>
          <a:uFillTx/>
          <a:latin typeface="Calibri"/>
        </a:defRPr>
      </a:lvl2pPr>
      <a:lvl3pPr marL="566928" marR="0" lvl="2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4A66AC"/>
        </a:buClr>
        <a:buSzPct val="100000"/>
        <a:buFont typeface="Calibri" pitchFamily="34"/>
        <a:buChar char="◦"/>
        <a:tabLst/>
        <a:defRPr lang="en-US" sz="1400" b="0" i="0" u="none" strike="noStrike" kern="1200" cap="none" spc="0" baseline="0">
          <a:solidFill>
            <a:srgbClr val="404040"/>
          </a:solidFill>
          <a:uFillTx/>
          <a:latin typeface="Calibri"/>
        </a:defRPr>
      </a:lvl3pPr>
      <a:lvl4pPr marL="749808" marR="0" lvl="3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4A66AC"/>
        </a:buClr>
        <a:buSzPct val="100000"/>
        <a:buFont typeface="Calibri" pitchFamily="34"/>
        <a:buChar char="◦"/>
        <a:tabLst/>
        <a:defRPr lang="en-US" sz="1400" b="0" i="0" u="none" strike="noStrike" kern="1200" cap="none" spc="0" baseline="0">
          <a:solidFill>
            <a:srgbClr val="404040"/>
          </a:solidFill>
          <a:uFillTx/>
          <a:latin typeface="Calibri"/>
        </a:defRPr>
      </a:lvl4pPr>
      <a:lvl5pPr marL="932688" marR="0" lvl="4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4A66AC"/>
        </a:buClr>
        <a:buSzPct val="100000"/>
        <a:buFont typeface="Calibri" pitchFamily="34"/>
        <a:buChar char="◦"/>
        <a:tabLst/>
        <a:defRPr lang="en-US" sz="1400" b="0" i="0" u="none" strike="noStrike" kern="1200" cap="none" spc="0" baseline="0">
          <a:solidFill>
            <a:srgbClr val="40404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E15F-392E-88E2-5FD2-AF202155EE7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96199" y="1570006"/>
            <a:ext cx="9144000" cy="1082914"/>
          </a:xfrm>
        </p:spPr>
        <p:txBody>
          <a:bodyPr/>
          <a:lstStyle/>
          <a:p>
            <a:pPr lvl="0"/>
            <a:r>
              <a:rPr lang="en-GB" sz="6600">
                <a:latin typeface="CMBX12"/>
              </a:rPr>
              <a:t>Word Order in News Texts</a:t>
            </a:r>
            <a:endParaRPr lang="en-IN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DB4A6-18F1-2E96-23FE-CCB610C669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96199" y="4468480"/>
            <a:ext cx="9560938" cy="1199071"/>
          </a:xfrm>
        </p:spPr>
        <p:txBody>
          <a:bodyPr>
            <a:noAutofit/>
          </a:bodyPr>
          <a:lstStyle/>
          <a:p>
            <a:pPr lvl="0" algn="r"/>
            <a:r>
              <a:rPr lang="en-GB" b="1" kern="0">
                <a:solidFill>
                  <a:srgbClr val="000000"/>
                </a:solidFill>
                <a:latin typeface="-webkit-standard"/>
              </a:rPr>
              <a:t>Corpus Crew (Group 10)</a:t>
            </a:r>
            <a:br>
              <a:rPr lang="en-GB" b="1" kern="0">
                <a:solidFill>
                  <a:srgbClr val="000000"/>
                </a:solidFill>
                <a:latin typeface="-webkit-standard"/>
              </a:rPr>
            </a:br>
            <a:r>
              <a:rPr lang="en-IN" kern="0">
                <a:solidFill>
                  <a:srgbClr val="000000"/>
                </a:solidFill>
                <a:latin typeface="Calibri" pitchFamily="34"/>
              </a:rPr>
              <a:t>Assylbek Tleules – 12432843</a:t>
            </a:r>
            <a:br>
              <a:rPr lang="en-IN" kern="0">
                <a:solidFill>
                  <a:srgbClr val="000000"/>
                </a:solidFill>
                <a:latin typeface="Calibri" pitchFamily="34"/>
              </a:rPr>
            </a:br>
            <a:r>
              <a:rPr lang="en-IN" kern="0">
                <a:solidFill>
                  <a:srgbClr val="000000"/>
                </a:solidFill>
                <a:latin typeface="Calibri" pitchFamily="34"/>
              </a:rPr>
              <a:t>Emily Jacob – 12143768</a:t>
            </a:r>
            <a:br>
              <a:rPr lang="en-IN" kern="0">
                <a:solidFill>
                  <a:srgbClr val="000000"/>
                </a:solidFill>
                <a:latin typeface="Calibri" pitchFamily="34"/>
              </a:rPr>
            </a:br>
            <a:r>
              <a:rPr lang="en-IN" kern="0">
                <a:solidFill>
                  <a:srgbClr val="000000"/>
                </a:solidFill>
                <a:latin typeface="Calibri" pitchFamily="34"/>
              </a:rPr>
              <a:t>Luka Santek – 12332270</a:t>
            </a:r>
            <a:br>
              <a:rPr lang="en-IN" kern="0">
                <a:solidFill>
                  <a:srgbClr val="000000"/>
                </a:solidFill>
                <a:latin typeface="Calibri" pitchFamily="34"/>
              </a:rPr>
            </a:br>
            <a:r>
              <a:rPr lang="en-IN" kern="0">
                <a:solidFill>
                  <a:srgbClr val="000000"/>
                </a:solidFill>
                <a:latin typeface="Calibri" pitchFamily="34"/>
              </a:rPr>
              <a:t>Tehseen Ali Tahir - 12433763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4F4C-50ED-B4B7-3BE9-A5C931BD2F7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04630-911E-38B7-075F-E43CBA42F1E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“What is the distribution of word order types (SVO, SOV, VSO, etc.) in each language?”</a:t>
            </a:r>
          </a:p>
          <a:p>
            <a:pPr lvl="0"/>
            <a:endParaRPr lang="en-US"/>
          </a:p>
          <a:p>
            <a:pPr lvl="0"/>
            <a:r>
              <a:rPr lang="en-US"/>
              <a:t>“Do flexible-order languages (e.g., Spanish, Greek) show an increased preference for SVO</a:t>
            </a:r>
          </a:p>
          <a:p>
            <a:pPr lvl="0"/>
            <a:r>
              <a:rPr lang="en-US"/>
              <a:t>after 2022 compared to before?”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389D-92AA-5E6B-8EA3-2103CC63128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63429-4CDF-707C-3691-A408D71D6E5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/>
              <a:t>Source</a:t>
            </a:r>
            <a:r>
              <a:rPr lang="en-US"/>
              <a:t>: Leipzig News Corpora</a:t>
            </a:r>
          </a:p>
          <a:p>
            <a:pPr lvl="0"/>
            <a:r>
              <a:rPr lang="en-US" b="1"/>
              <a:t>Languages</a:t>
            </a:r>
            <a:r>
              <a:rPr lang="en-US"/>
              <a:t>: English, Russian, German </a:t>
            </a:r>
          </a:p>
          <a:p>
            <a:pPr lvl="0"/>
            <a:r>
              <a:rPr lang="en-US" b="1"/>
              <a:t>Number of sentences/year</a:t>
            </a:r>
            <a:r>
              <a:rPr lang="en-US"/>
              <a:t>: 10,000</a:t>
            </a:r>
          </a:p>
          <a:p>
            <a:pPr lvl="0"/>
            <a:r>
              <a:rPr lang="en-US" b="1"/>
              <a:t>English:</a:t>
            </a:r>
            <a:r>
              <a:rPr lang="en-US"/>
              <a:t> 2018, 2019, 2020, 2023, 2024</a:t>
            </a:r>
          </a:p>
          <a:p>
            <a:pPr lvl="0"/>
            <a:r>
              <a:rPr lang="en-US" b="1"/>
              <a:t>German</a:t>
            </a:r>
            <a:r>
              <a:rPr lang="en-US"/>
              <a:t>: 2019, 2022, 2023, 2024</a:t>
            </a:r>
          </a:p>
          <a:p>
            <a:pPr lvl="0"/>
            <a:r>
              <a:rPr lang="en-US" b="1"/>
              <a:t>Russian</a:t>
            </a:r>
            <a:r>
              <a:rPr lang="en-US"/>
              <a:t>: 2013, 2019, 2020, 2022, 2024</a:t>
            </a:r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FEE0-4E11-971A-0C8A-A53A2849A90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CAEEB-CFED-9488-6E92-370E565701D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7280" y="1845734"/>
            <a:ext cx="10315465" cy="4279017"/>
          </a:xfrm>
        </p:spPr>
        <p:txBody>
          <a:bodyPr>
            <a:noAutofit/>
          </a:bodyPr>
          <a:lstStyle/>
          <a:p>
            <a:pPr lvl="0"/>
            <a:r>
              <a:rPr lang="en-US" sz="1600" b="1"/>
              <a:t>1</a:t>
            </a:r>
            <a:r>
              <a:rPr lang="en-IN" sz="1600" b="1"/>
              <a:t>. Data Merge/Cleaning</a:t>
            </a:r>
          </a:p>
          <a:p>
            <a:pPr lvl="1"/>
            <a:r>
              <a:rPr lang="en-IN" sz="1600"/>
              <a:t>Merge datasets and metadata</a:t>
            </a:r>
          </a:p>
          <a:p>
            <a:pPr lvl="1"/>
            <a:r>
              <a:rPr lang="en-IN" sz="1600"/>
              <a:t>Remove URLs, HTML tags, extra whitespace</a:t>
            </a:r>
          </a:p>
          <a:p>
            <a:pPr lvl="1"/>
            <a:r>
              <a:rPr lang="en-IN" sz="1600"/>
              <a:t>Strip quotes and normalize punctuation</a:t>
            </a:r>
          </a:p>
          <a:p>
            <a:pPr lvl="0"/>
            <a:r>
              <a:rPr lang="en-IN" sz="1600" b="1"/>
              <a:t>2. Filtering</a:t>
            </a:r>
            <a:endParaRPr lang="en-IN" sz="1600"/>
          </a:p>
          <a:p>
            <a:pPr lvl="1"/>
            <a:r>
              <a:rPr lang="en-IN" sz="1600"/>
              <a:t>Remove duplicate sentences</a:t>
            </a:r>
          </a:p>
          <a:p>
            <a:pPr lvl="1"/>
            <a:r>
              <a:rPr lang="en-IN" sz="1600"/>
              <a:t>Remove sentences &lt; 8 tokens</a:t>
            </a:r>
          </a:p>
          <a:p>
            <a:pPr lvl="0"/>
            <a:r>
              <a:rPr lang="en-IN" sz="1600" b="1"/>
              <a:t>3. Metadata Handling</a:t>
            </a:r>
            <a:endParaRPr lang="en-IN" sz="1600"/>
          </a:p>
          <a:p>
            <a:pPr lvl="1"/>
            <a:r>
              <a:rPr lang="en-IN" sz="1600"/>
              <a:t>Preserve: year, source, date, language</a:t>
            </a:r>
          </a:p>
          <a:p>
            <a:pPr lvl="1"/>
            <a:r>
              <a:rPr lang="en-IN" sz="1600"/>
              <a:t>Label Pre/Post GPT based on date metadata</a:t>
            </a:r>
          </a:p>
          <a:p>
            <a:pPr lvl="0"/>
            <a:r>
              <a:rPr lang="en-IN" sz="1600" b="1"/>
              <a:t>4. Output</a:t>
            </a:r>
            <a:endParaRPr lang="en-IN" sz="1600"/>
          </a:p>
          <a:p>
            <a:pPr lvl="1"/>
            <a:r>
              <a:rPr lang="en-IN" sz="1600"/>
              <a:t>Clean TSVs per language: language_year.tsv</a:t>
            </a:r>
          </a:p>
          <a:p>
            <a:pPr lvl="0"/>
            <a:r>
              <a:rPr lang="en-IN" sz="1800" b="1"/>
              <a:t>After pre-processing, we were left with 154k sentences ready for Stanza annotation!</a:t>
            </a:r>
          </a:p>
          <a:p>
            <a:pPr marL="201168" lvl="1" indent="0">
              <a:buNone/>
            </a:pPr>
            <a:endParaRPr lang="en-US" b="1"/>
          </a:p>
          <a:p>
            <a:pPr lvl="0"/>
            <a:endParaRPr lang="en-IN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531E-9FDE-D90F-84CA-F296F74D1BB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Lingustic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E57DC-9F3C-B511-665C-E141E65E486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Stanza models loaded per language: en, de, ru</a:t>
            </a:r>
          </a:p>
          <a:p>
            <a:pPr lvl="0"/>
            <a:r>
              <a:rPr lang="en-IN"/>
              <a:t>Processed with:</a:t>
            </a:r>
          </a:p>
          <a:p>
            <a:pPr lvl="1"/>
            <a:r>
              <a:rPr lang="en-IN" b="1"/>
              <a:t>Tokenization</a:t>
            </a:r>
            <a:r>
              <a:rPr lang="en-IN"/>
              <a:t> → split sentences into words/punctuation</a:t>
            </a:r>
          </a:p>
          <a:p>
            <a:pPr lvl="1"/>
            <a:r>
              <a:rPr lang="en-IN" b="1"/>
              <a:t>Lemmatization</a:t>
            </a:r>
            <a:r>
              <a:rPr lang="en-IN"/>
              <a:t> → normalize words to base form</a:t>
            </a:r>
          </a:p>
          <a:p>
            <a:pPr lvl="1"/>
            <a:r>
              <a:rPr lang="en-IN" b="1"/>
              <a:t>POS tagging</a:t>
            </a:r>
            <a:r>
              <a:rPr lang="en-IN"/>
              <a:t> → identify nouns, verbs, etc.</a:t>
            </a:r>
          </a:p>
          <a:p>
            <a:pPr lvl="1"/>
            <a:r>
              <a:rPr lang="en-IN" b="1"/>
              <a:t>Dependency parsing</a:t>
            </a:r>
            <a:r>
              <a:rPr lang="en-IN"/>
              <a:t> → find grammatical relationships (subject → verb → object)</a:t>
            </a:r>
          </a:p>
          <a:p>
            <a:pPr lvl="0"/>
            <a:r>
              <a:rPr lang="en-US" b="1"/>
              <a:t>Output</a:t>
            </a:r>
          </a:p>
          <a:p>
            <a:pPr lvl="1"/>
            <a:r>
              <a:rPr lang="en-US"/>
              <a:t>Each sentence annotated in </a:t>
            </a:r>
            <a:r>
              <a:rPr lang="en-US" b="1"/>
              <a:t>CoNLL-U format</a:t>
            </a:r>
            <a:endParaRPr lang="en-US"/>
          </a:p>
          <a:p>
            <a:pPr lvl="1"/>
            <a:r>
              <a:rPr lang="en-US"/>
              <a:t>Metadata preserved: year, period, sentence ID, sentence as comments</a:t>
            </a:r>
          </a:p>
          <a:p>
            <a:pPr lvl="1"/>
            <a:r>
              <a:rPr lang="en-US"/>
              <a:t>Ready for </a:t>
            </a:r>
            <a:r>
              <a:rPr lang="en-US" b="1"/>
              <a:t>Ground Truth and Rule-based/ML classifiers</a:t>
            </a:r>
            <a:endParaRPr lang="en-US"/>
          </a:p>
          <a:p>
            <a:pPr marL="201168" lvl="1" indent="0">
              <a:buNone/>
            </a:pPr>
            <a:endParaRPr lang="en-IN"/>
          </a:p>
          <a:p>
            <a:pPr lvl="0"/>
            <a:endParaRPr lang="en-IN"/>
          </a:p>
          <a:p>
            <a:pPr lvl="0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51EE-CC53-72E6-2D1B-CF6F3195A87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Ground Truths using Stanza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7821D-2618-528A-9258-E49EC4A1F6B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80000"/>
              </a:lnSpc>
            </a:pPr>
            <a:r>
              <a:rPr lang="en-US" b="1"/>
              <a:t>3 Step Algorithm:</a:t>
            </a:r>
            <a:endParaRPr lang="en-US"/>
          </a:p>
          <a:p>
            <a:pPr lvl="1">
              <a:lnSpc>
                <a:spcPct val="80000"/>
              </a:lnSpc>
            </a:pPr>
            <a:r>
              <a:rPr lang="en-IN"/>
              <a:t>1. Find root verb -  Looks for: deprel='root' and POS='VERB'/'AUX’</a:t>
            </a:r>
          </a:p>
          <a:p>
            <a:pPr lvl="1">
              <a:lnSpc>
                <a:spcPct val="80000"/>
              </a:lnSpc>
            </a:pPr>
            <a:r>
              <a:rPr lang="en-US"/>
              <a:t>2. Extract S &amp; O connected to root verb</a:t>
            </a:r>
            <a:r>
              <a:rPr lang="en-IN"/>
              <a:t>:</a:t>
            </a:r>
            <a:endParaRPr lang="en-US"/>
          </a:p>
          <a:p>
            <a:pPr lvl="2">
              <a:lnSpc>
                <a:spcPct val="80000"/>
              </a:lnSpc>
            </a:pPr>
            <a:r>
              <a:rPr lang="en-US"/>
              <a:t>Subject: deprel='nsubj', head=root_verb_id</a:t>
            </a:r>
          </a:p>
          <a:p>
            <a:pPr lvl="2">
              <a:lnSpc>
                <a:spcPct val="80000"/>
              </a:lnSpc>
            </a:pPr>
            <a:r>
              <a:rPr lang="en-US"/>
              <a:t>Object: deprel='obj', head=root_verb_id</a:t>
            </a:r>
          </a:p>
          <a:p>
            <a:pPr lvl="2">
              <a:lnSpc>
                <a:spcPct val="80000"/>
              </a:lnSpc>
            </a:pPr>
            <a:r>
              <a:rPr lang="en-US"/>
              <a:t>Constraint: must point to main verb</a:t>
            </a:r>
          </a:p>
          <a:p>
            <a:pPr lvl="1">
              <a:lnSpc>
                <a:spcPct val="80000"/>
              </a:lnSpc>
            </a:pPr>
            <a:r>
              <a:rPr lang="en-US"/>
              <a:t>3. Compare positions -&gt; classify order</a:t>
            </a:r>
          </a:p>
          <a:p>
            <a:pPr lvl="2">
              <a:lnSpc>
                <a:spcPct val="80000"/>
              </a:lnSpc>
            </a:pPr>
            <a:r>
              <a:rPr lang="pt-BR"/>
              <a:t>SVO, SOV, VSO, VOS, OSV, OVS</a:t>
            </a:r>
            <a:endParaRPr lang="en-US"/>
          </a:p>
          <a:p>
            <a:pPr lvl="2">
              <a:lnSpc>
                <a:spcPct val="80000"/>
              </a:lnSpc>
            </a:pPr>
            <a:r>
              <a:rPr lang="en-US"/>
              <a:t>Partial orders: SV_only, VO_only, SO_only</a:t>
            </a:r>
          </a:p>
          <a:p>
            <a:pPr lvl="2">
              <a:lnSpc>
                <a:spcPct val="80000"/>
              </a:lnSpc>
            </a:pPr>
            <a:r>
              <a:rPr lang="en-IN"/>
              <a:t>If missing  -&gt; INCOMPLETE</a:t>
            </a:r>
          </a:p>
          <a:p>
            <a:pPr marL="384048" lvl="2" indent="0">
              <a:lnSpc>
                <a:spcPct val="80000"/>
              </a:lnSpc>
              <a:buNone/>
            </a:pPr>
            <a:r>
              <a:rPr lang="en-IN" b="1"/>
              <a:t>Limitations:</a:t>
            </a:r>
          </a:p>
          <a:p>
            <a:pPr lvl="2">
              <a:lnSpc>
                <a:spcPct val="80000"/>
              </a:lnSpc>
            </a:pPr>
            <a:r>
              <a:rPr lang="en-IN"/>
              <a:t>Parser errors - 15-25% of labels may have parser errors</a:t>
            </a:r>
          </a:p>
          <a:p>
            <a:pPr lvl="2">
              <a:lnSpc>
                <a:spcPct val="80000"/>
              </a:lnSpc>
            </a:pPr>
            <a:r>
              <a:rPr lang="en-IN"/>
              <a:t>Main clause only - Ignores subordinate clauses</a:t>
            </a:r>
          </a:p>
          <a:p>
            <a:pPr lvl="2">
              <a:lnSpc>
                <a:spcPct val="80000"/>
              </a:lnSpc>
            </a:pPr>
            <a:r>
              <a:rPr lang="en-IN"/>
              <a:t>Coordination  - Takes first subject/object only</a:t>
            </a:r>
          </a:p>
          <a:p>
            <a:pPr lvl="0">
              <a:lnSpc>
                <a:spcPct val="80000"/>
              </a:lnSpc>
            </a:pPr>
            <a:endParaRPr lang="en-IN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A8C3-1CBD-37A3-B9E0-8EA062DC32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Stanza Annotation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A833-B40E-6AAE-CD90-A953126C961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/>
              <a:t>Evaluation</a:t>
            </a:r>
            <a:r>
              <a:rPr lang="en-IN"/>
              <a:t> of Stanza Annotations</a:t>
            </a:r>
          </a:p>
          <a:p>
            <a:pPr lvl="1"/>
            <a:r>
              <a:rPr lang="en-IN"/>
              <a:t>Manually annotated Subject, Verb, Object order of 20 sentences from the test set to evaluate Stanza ground truth.</a:t>
            </a:r>
            <a:endParaRPr lang="en-US"/>
          </a:p>
          <a:p>
            <a:pPr lvl="1"/>
            <a:r>
              <a:rPr lang="en-US"/>
              <a:t>Metric: </a:t>
            </a:r>
            <a:r>
              <a:rPr lang="en-US" b="1"/>
              <a:t>Exact word order match</a:t>
            </a:r>
          </a:p>
          <a:p>
            <a:pPr lvl="1"/>
            <a:r>
              <a:rPr lang="en-US" b="1"/>
              <a:t>Overall Accuracy: 55% (33/60 correct)</a:t>
            </a:r>
          </a:p>
          <a:p>
            <a:pPr lvl="1"/>
            <a:r>
              <a:rPr lang="en-US" b="1"/>
              <a:t>Per language accuracy:</a:t>
            </a:r>
          </a:p>
          <a:p>
            <a:pPr lvl="2"/>
            <a:r>
              <a:rPr lang="en-US" b="1"/>
              <a:t>Russian – 70% (14/20 correct)</a:t>
            </a:r>
          </a:p>
          <a:p>
            <a:pPr lvl="2"/>
            <a:r>
              <a:rPr lang="en-US" b="1"/>
              <a:t>English – 65% (13/20 correct)</a:t>
            </a:r>
          </a:p>
          <a:p>
            <a:pPr lvl="2"/>
            <a:r>
              <a:rPr lang="en-US" b="1"/>
              <a:t>German – 30% (6/20 correct)</a:t>
            </a:r>
          </a:p>
          <a:p>
            <a:pPr lvl="1"/>
            <a:r>
              <a:rPr lang="en-US" b="1"/>
              <a:t>Implies language-specific extraction issues.</a:t>
            </a:r>
          </a:p>
          <a:p>
            <a:pPr lvl="1"/>
            <a:endParaRPr lang="en-US" b="1"/>
          </a:p>
          <a:p>
            <a:pPr lvl="1"/>
            <a:endParaRPr lang="en-IN"/>
          </a:p>
          <a:p>
            <a:pPr lvl="1"/>
            <a:endParaRPr lang="en-IN"/>
          </a:p>
          <a:p>
            <a:pPr lvl="1"/>
            <a:endParaRPr lang="en-IN"/>
          </a:p>
          <a:p>
            <a:pPr lvl="0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4180-A3D1-4281-CB4F-DC983D7FCDA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Confusion Matrix: Per Language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67A4F5B-DEBD-5418-1F49-C71664502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59" y="2168581"/>
            <a:ext cx="10058400" cy="337807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0B6B-E126-5870-8183-1D2A635822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Error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D345F-8A56-0D3F-9951-2AA1506869C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Russian:</a:t>
            </a:r>
          </a:p>
          <a:p>
            <a:pPr lvl="1"/>
            <a:r>
              <a:rPr lang="en-IN"/>
              <a:t>Stanza dependencies are reliable. -&gt; mostly correct SVO.SOV classifications.</a:t>
            </a:r>
          </a:p>
          <a:p>
            <a:pPr lvl="0"/>
            <a:r>
              <a:rPr lang="en-IN"/>
              <a:t>English:</a:t>
            </a:r>
          </a:p>
          <a:p>
            <a:pPr lvl="1"/>
            <a:r>
              <a:rPr lang="en-US"/>
              <a:t>Failed to extract objects correctly -&gt; SVO is sometimes misclassified as SV-only or VO-only.</a:t>
            </a:r>
            <a:endParaRPr lang="en-IN"/>
          </a:p>
          <a:p>
            <a:pPr lvl="0"/>
            <a:r>
              <a:rPr lang="en-IN"/>
              <a:t>German:</a:t>
            </a:r>
          </a:p>
          <a:p>
            <a:pPr lvl="1"/>
            <a:r>
              <a:rPr lang="en-IN"/>
              <a:t>Extraction fails to differentiate auxiliary verb and lexical verb</a:t>
            </a:r>
          </a:p>
          <a:p>
            <a:pPr lvl="1"/>
            <a:endParaRPr lang="en-IN"/>
          </a:p>
          <a:p>
            <a:pPr lvl="1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54B9-00C4-4CFD-1F9E-BE93768980D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Rule-Based Baseline: Simple Heuristic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49C7C-0AB4-21FA-B18C-FA89A32E2FE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KZ" sz="1800" b="1"/>
              <a:t>4 Step Algorithm:</a:t>
            </a:r>
            <a:endParaRPr lang="en-IN" sz="1800" b="1"/>
          </a:p>
          <a:p>
            <a:pPr lvl="1"/>
            <a:r>
              <a:rPr lang="en-US"/>
              <a:t> Find first verb - scan left to right, stop at first VERB or AUX</a:t>
            </a:r>
          </a:p>
          <a:p>
            <a:pPr lvl="1"/>
            <a:r>
              <a:rPr lang="en-US"/>
              <a:t> Look before the verb - are there any nouns/pronouns?</a:t>
            </a:r>
          </a:p>
          <a:p>
            <a:pPr lvl="1"/>
            <a:r>
              <a:rPr lang="en-US"/>
              <a:t> Look after the verb - are there any nouns/pronouns?</a:t>
            </a:r>
          </a:p>
          <a:p>
            <a:pPr lvl="1"/>
            <a:r>
              <a:rPr lang="en-US"/>
              <a:t>Classify:</a:t>
            </a:r>
          </a:p>
          <a:p>
            <a:pPr lvl="2"/>
            <a:r>
              <a:rPr lang="en-US" sz="1800"/>
              <a:t> Nouns both before AND after -&gt; must be SVO!</a:t>
            </a:r>
          </a:p>
          <a:p>
            <a:pPr lvl="2"/>
            <a:r>
              <a:rPr lang="en-US" sz="1800"/>
              <a:t>Only before -&gt; SV_only</a:t>
            </a:r>
          </a:p>
          <a:p>
            <a:pPr lvl="2"/>
            <a:r>
              <a:rPr lang="en-US" sz="1800"/>
              <a:t>Only after -&gt; VO_only </a:t>
            </a:r>
          </a:p>
          <a:p>
            <a:pPr lvl="2"/>
            <a:r>
              <a:rPr lang="en-US" sz="1800"/>
              <a:t>Neither -&gt; INCOMPLETE</a:t>
            </a:r>
          </a:p>
          <a:p>
            <a:pPr marL="0" lvl="0" indent="0">
              <a:buNone/>
            </a:pPr>
            <a:r>
              <a:rPr lang="en-US" sz="1800" b="1"/>
              <a:t>The problem</a:t>
            </a:r>
            <a:r>
              <a:rPr lang="en-US" sz="1800"/>
              <a:t>: It doesn't understand which nouns go with which verbs. It just assumes positional proximity = relationship.</a:t>
            </a:r>
            <a:endParaRPr lang="en-KZ" sz="1800"/>
          </a:p>
          <a:p>
            <a:pPr lvl="0"/>
            <a:endParaRPr lang="en-IN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E06C7-6C29-A2CB-2B8E-4C93540EC03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Rule-Based Baseline: POS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D1D8-7F28-6B90-9C86-6F7B8F75FF9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1400" b="1"/>
              <a:t>3</a:t>
            </a:r>
            <a:r>
              <a:rPr lang="en-KZ" sz="1400" b="1"/>
              <a:t> Step Algorithm:</a:t>
            </a:r>
            <a:endParaRPr lang="en-IN" sz="1400" b="1"/>
          </a:p>
          <a:p>
            <a:pPr lvl="0"/>
            <a:r>
              <a:rPr lang="en-IN" sz="1400" b="1"/>
              <a:t>1. Collect all positions</a:t>
            </a:r>
          </a:p>
          <a:p>
            <a:pPr lvl="1"/>
            <a:r>
              <a:rPr lang="en-US" sz="1400"/>
              <a:t>Make a list of all nouns with their positions: [(N, 2), (N, 5), (N, 8)]</a:t>
            </a:r>
          </a:p>
          <a:p>
            <a:pPr lvl="1">
              <a:spcAft>
                <a:spcPts val="0"/>
              </a:spcAft>
            </a:pPr>
            <a:r>
              <a:rPr lang="en-US" sz="1400"/>
              <a:t>Make a list of all verbs with their positions: [(V, 3), (V, 10)] Look after the verb - are there any nouns/pronouns?</a:t>
            </a:r>
          </a:p>
          <a:p>
            <a:pPr lvl="0"/>
            <a:r>
              <a:rPr lang="en-IN" sz="1400" b="1"/>
              <a:t>2. Pick candidates:</a:t>
            </a:r>
          </a:p>
          <a:p>
            <a:pPr lvl="2"/>
            <a:r>
              <a:rPr lang="en-US"/>
              <a:t>Subject = first noun</a:t>
            </a:r>
          </a:p>
          <a:p>
            <a:pPr lvl="2"/>
            <a:r>
              <a:rPr lang="en-US"/>
              <a:t>Verb = first verb</a:t>
            </a:r>
          </a:p>
          <a:p>
            <a:pPr lvl="2"/>
            <a:r>
              <a:rPr lang="en-US"/>
              <a:t>Object = second noun</a:t>
            </a:r>
          </a:p>
          <a:p>
            <a:pPr lvl="2"/>
            <a:r>
              <a:rPr lang="en-US"/>
              <a:t>If we dont have at least 2 nouns and 1 verb -&gt; INCOMPLETE</a:t>
            </a:r>
          </a:p>
          <a:p>
            <a:pPr lvl="0"/>
            <a:r>
              <a:rPr lang="en-US" sz="1400" b="1"/>
              <a:t> 3. Compare positions and classify:</a:t>
            </a:r>
          </a:p>
          <a:p>
            <a:pPr lvl="2"/>
            <a:r>
              <a:rPr lang="en-US"/>
              <a:t>If N1 &lt; V &lt; N2: SVO (noun, verb, noun)</a:t>
            </a:r>
          </a:p>
          <a:p>
            <a:pPr lvl="2"/>
            <a:r>
              <a:rPr lang="en-US"/>
              <a:t>  If N1 &lt; N2 &lt; V: SOV (noun, noun, verb)</a:t>
            </a:r>
          </a:p>
          <a:p>
            <a:pPr lvl="2"/>
            <a:r>
              <a:rPr lang="en-US"/>
              <a:t>  If V &lt; N1 &lt; N2: VSO (verb, noun, noun)</a:t>
            </a:r>
          </a:p>
          <a:p>
            <a:pPr marL="0" lvl="0" indent="0">
              <a:buNone/>
            </a:pPr>
            <a:r>
              <a:rPr lang="en-US" sz="1400"/>
              <a:t>It still doesn't understand GRAMMAR. It just looks at word category (noun vs verb) and position.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6966-9ABC-95A9-9539-26E5F3DBB3C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ML Classifier for Word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869F-E2C2-03D0-FA23-E8F14A4C520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80000"/>
              </a:lnSpc>
              <a:buFont typeface="Arial" pitchFamily="34"/>
              <a:buChar char="•"/>
            </a:pPr>
            <a:r>
              <a:rPr lang="en-HR" sz="1900" b="1"/>
              <a:t> Stanza </a:t>
            </a:r>
            <a:r>
              <a:rPr lang="en-HR" sz="1900"/>
              <a:t>as a ground truth</a:t>
            </a:r>
          </a:p>
          <a:p>
            <a:pPr lvl="0">
              <a:lnSpc>
                <a:spcPct val="80000"/>
              </a:lnSpc>
              <a:buFont typeface="Arial" pitchFamily="34"/>
              <a:buChar char="•"/>
            </a:pPr>
            <a:r>
              <a:rPr lang="en-HR" sz="1900"/>
              <a:t> </a:t>
            </a:r>
            <a:r>
              <a:rPr lang="en-HR" sz="1900" b="1"/>
              <a:t>Algorithms</a:t>
            </a:r>
            <a:r>
              <a:rPr lang="en-HR" sz="1900"/>
              <a:t>: SVM, Na</a:t>
            </a:r>
            <a:r>
              <a:rPr lang="en-US" sz="1900"/>
              <a:t>ï</a:t>
            </a:r>
            <a:r>
              <a:rPr lang="en-HR" sz="1900"/>
              <a:t>ve Bayes, Logistic Regression</a:t>
            </a:r>
          </a:p>
          <a:p>
            <a:pPr lvl="0">
              <a:lnSpc>
                <a:spcPct val="80000"/>
              </a:lnSpc>
              <a:buFont typeface="Arial" pitchFamily="34"/>
              <a:buChar char="•"/>
            </a:pPr>
            <a:r>
              <a:rPr lang="en-HR" sz="1900"/>
              <a:t> </a:t>
            </a:r>
            <a:r>
              <a:rPr lang="en-HR" sz="1900" b="1"/>
              <a:t>Feature extractors: </a:t>
            </a:r>
            <a:r>
              <a:rPr lang="en-HR" sz="1900"/>
              <a:t>BoW, TF-IDF</a:t>
            </a:r>
          </a:p>
          <a:p>
            <a:pPr lvl="0">
              <a:lnSpc>
                <a:spcPct val="80000"/>
              </a:lnSpc>
              <a:buFont typeface="Arial" pitchFamily="34"/>
              <a:buChar char="•"/>
            </a:pPr>
            <a:r>
              <a:rPr lang="en-HR" sz="1900"/>
              <a:t> </a:t>
            </a:r>
            <a:r>
              <a:rPr lang="en-HR" sz="1900" b="1"/>
              <a:t>Workflow: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Perform cross-validation and hyperparameter tuning on the training set using GridSearchCV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Select the best hyperparameter configuration for each (model, feature extractor) combination based on weighted F1-score.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Evaluate the best configuration of each combination on a held-out validation set.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Compare models using validation metrics (F1, balanced accuracy, precision, recall) and select the overall best-performing model.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Leave the test set unseen for final comparison with rule-based models</a:t>
            </a:r>
            <a:endParaRPr lang="en-HR" sz="1700" b="1">
              <a:solidFill>
                <a:srgbClr val="000000"/>
              </a:solidFill>
            </a:endParaRP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Final best model was chosen based on in-depth analysis and evaluation on test set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r>
              <a:rPr lang="en-HR" sz="1700">
                <a:solidFill>
                  <a:srgbClr val="000000"/>
                </a:solidFill>
              </a:rPr>
              <a:t>Evaluation was done separately for binary classification and multiclass classification task</a:t>
            </a:r>
          </a:p>
          <a:p>
            <a:pPr lvl="1">
              <a:lnSpc>
                <a:spcPct val="80000"/>
              </a:lnSpc>
              <a:buFont typeface="Arial" pitchFamily="34"/>
              <a:buChar char="•"/>
            </a:pPr>
            <a:endParaRPr lang="en-HR" sz="1700">
              <a:solidFill>
                <a:srgbClr val="000000"/>
              </a:solidFill>
            </a:endParaRPr>
          </a:p>
          <a:p>
            <a:pPr lvl="0">
              <a:lnSpc>
                <a:spcPct val="80000"/>
              </a:lnSpc>
            </a:pPr>
            <a:endParaRPr lang="en-IN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2339-2254-A9ED-4B71-09DCBD093F3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Evaluation: ML Classifier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9B476-02B2-BFD8-EECA-D0B1FE8010C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70000"/>
              </a:lnSpc>
            </a:pPr>
            <a:r>
              <a:rPr lang="en-IN" sz="1700" b="1"/>
              <a:t>Evaluation Setup:</a:t>
            </a:r>
          </a:p>
          <a:p>
            <a:pPr lvl="1">
              <a:lnSpc>
                <a:spcPct val="70000"/>
              </a:lnSpc>
            </a:pPr>
            <a:r>
              <a:rPr lang="en-IN" sz="1500"/>
              <a:t>Train /validation split</a:t>
            </a:r>
          </a:p>
          <a:p>
            <a:pPr lvl="1">
              <a:lnSpc>
                <a:spcPct val="70000"/>
              </a:lnSpc>
            </a:pPr>
            <a:r>
              <a:rPr lang="en-IN" sz="1500"/>
              <a:t>GridSearchCV with cross-validation</a:t>
            </a:r>
          </a:p>
          <a:p>
            <a:pPr lvl="0">
              <a:lnSpc>
                <a:spcPct val="70000"/>
              </a:lnSpc>
            </a:pPr>
            <a:r>
              <a:rPr lang="en-IN" sz="1700" b="1"/>
              <a:t>Metrics used:</a:t>
            </a:r>
          </a:p>
          <a:p>
            <a:pPr lvl="1">
              <a:lnSpc>
                <a:spcPct val="70000"/>
              </a:lnSpc>
            </a:pPr>
            <a:r>
              <a:rPr lang="en-IN" sz="1500"/>
              <a:t>Accuracy</a:t>
            </a:r>
          </a:p>
          <a:p>
            <a:pPr lvl="1">
              <a:lnSpc>
                <a:spcPct val="70000"/>
              </a:lnSpc>
            </a:pPr>
            <a:r>
              <a:rPr lang="en-IN" sz="1500"/>
              <a:t>Balanced Accuracy</a:t>
            </a:r>
          </a:p>
          <a:p>
            <a:pPr lvl="1">
              <a:lnSpc>
                <a:spcPct val="70000"/>
              </a:lnSpc>
            </a:pPr>
            <a:r>
              <a:rPr lang="en-IN" sz="1500"/>
              <a:t>Macro F1</a:t>
            </a:r>
          </a:p>
          <a:p>
            <a:pPr lvl="0">
              <a:lnSpc>
                <a:spcPct val="70000"/>
              </a:lnSpc>
            </a:pPr>
            <a:r>
              <a:rPr lang="en-IN" sz="1700" b="1"/>
              <a:t>Why balanced metrics?</a:t>
            </a:r>
          </a:p>
          <a:p>
            <a:pPr lvl="1">
              <a:lnSpc>
                <a:spcPct val="70000"/>
              </a:lnSpc>
            </a:pPr>
            <a:r>
              <a:rPr lang="en-US" sz="1500"/>
              <a:t>Strong </a:t>
            </a:r>
            <a:r>
              <a:rPr lang="en-US" sz="1500" b="1"/>
              <a:t>class imbalance</a:t>
            </a:r>
            <a:r>
              <a:rPr lang="en-US" sz="1500"/>
              <a:t> (SVO dominates)</a:t>
            </a:r>
          </a:p>
          <a:p>
            <a:pPr lvl="1">
              <a:lnSpc>
                <a:spcPct val="70000"/>
              </a:lnSpc>
            </a:pPr>
            <a:r>
              <a:rPr lang="en-US" sz="1500"/>
              <a:t>Accuracy alone would overestimate performance</a:t>
            </a:r>
          </a:p>
          <a:p>
            <a:pPr lvl="1">
              <a:lnSpc>
                <a:spcPct val="70000"/>
              </a:lnSpc>
            </a:pPr>
            <a:endParaRPr lang="en-IN" sz="1500" b="1"/>
          </a:p>
          <a:p>
            <a:pPr lvl="0">
              <a:lnSpc>
                <a:spcPct val="70000"/>
              </a:lnSpc>
            </a:pPr>
            <a:r>
              <a:rPr lang="en-IN" sz="1700" b="1" u="sng"/>
              <a:t>BEST Multiclass ML MODEL</a:t>
            </a:r>
            <a:r>
              <a:rPr lang="en-IN" sz="1700" b="1"/>
              <a:t>: </a:t>
            </a:r>
          </a:p>
          <a:p>
            <a:pPr lvl="0">
              <a:lnSpc>
                <a:spcPct val="70000"/>
              </a:lnSpc>
            </a:pPr>
            <a:r>
              <a:rPr lang="en-IN" sz="1700" b="1"/>
              <a:t>Logistic Regression -&gt; Bal. Accuracy of 46.1 %</a:t>
            </a:r>
          </a:p>
          <a:p>
            <a:pPr marL="201168" lvl="1" indent="0">
              <a:lnSpc>
                <a:spcPct val="70000"/>
              </a:lnSpc>
              <a:buNone/>
            </a:pPr>
            <a:r>
              <a:rPr lang="en-IN" sz="1500" b="1"/>
              <a:t>	</a:t>
            </a:r>
          </a:p>
          <a:p>
            <a:pPr marL="201168" lvl="1" indent="0">
              <a:lnSpc>
                <a:spcPct val="70000"/>
              </a:lnSpc>
              <a:buNone/>
            </a:pPr>
            <a:endParaRPr lang="en-IN" sz="1500" b="1"/>
          </a:p>
          <a:p>
            <a:pPr marL="201168" lvl="1" indent="0">
              <a:lnSpc>
                <a:spcPct val="70000"/>
              </a:lnSpc>
              <a:buNone/>
            </a:pPr>
            <a:endParaRPr lang="en-IN" sz="1500" b="1"/>
          </a:p>
          <a:p>
            <a:pPr marL="201168" lvl="1" indent="0">
              <a:lnSpc>
                <a:spcPct val="70000"/>
              </a:lnSpc>
              <a:buNone/>
            </a:pPr>
            <a:endParaRPr lang="en-IN" sz="15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22CF-2DFC-3036-114D-3739713868C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HR"/>
              <a:t>Insight</a:t>
            </a:r>
            <a:r>
              <a:rPr lang="en-IN"/>
              <a:t>s</a:t>
            </a:r>
          </a:p>
        </p:txBody>
      </p:sp>
      <p:pic>
        <p:nvPicPr>
          <p:cNvPr id="3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01543935-390A-E1AE-4D40-641CA77BE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083" y="1828800"/>
            <a:ext cx="5583829" cy="4654296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EF77-A7C9-1810-EFFD-471AAB86BD2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Insights</a:t>
            </a:r>
          </a:p>
        </p:txBody>
      </p:sp>
      <p:pic>
        <p:nvPicPr>
          <p:cNvPr id="3" name="Content Placeholder 4" descr="A close-up of a pie chart">
            <a:extLst>
              <a:ext uri="{FF2B5EF4-FFF2-40B4-BE49-F238E27FC236}">
                <a16:creationId xmlns:a16="http://schemas.microsoft.com/office/drawing/2014/main" id="{C2907BB4-F251-14F4-594D-B5589E08C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59" y="2494647"/>
            <a:ext cx="10058400" cy="2725963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1423-6DA7-7BA2-6E85-18853704EC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Insights</a:t>
            </a:r>
          </a:p>
        </p:txBody>
      </p:sp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A8CEE9B2-5568-6B32-6288-3FE2254B2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765" y="1955380"/>
            <a:ext cx="9280986" cy="1903387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TM02900769%5b%5bfn=Retrospect%5d%5d</Template>
  <TotalTime>178</TotalTime>
  <Words>1032</Words>
  <Application>Microsoft Macintosh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-webkit-standard</vt:lpstr>
      <vt:lpstr>Aptos</vt:lpstr>
      <vt:lpstr>Arial</vt:lpstr>
      <vt:lpstr>Calibri</vt:lpstr>
      <vt:lpstr>Calibri Light</vt:lpstr>
      <vt:lpstr>CMBX12</vt:lpstr>
      <vt:lpstr>Retrospect</vt:lpstr>
      <vt:lpstr>Word Order in News Texts</vt:lpstr>
      <vt:lpstr>Research Question</vt:lpstr>
      <vt:lpstr>Data Collection</vt:lpstr>
      <vt:lpstr>Preprocessing Pipeline</vt:lpstr>
      <vt:lpstr>Lingustic Annotation</vt:lpstr>
      <vt:lpstr>Ground Truths using Stanza</vt:lpstr>
      <vt:lpstr>Stanza Annotation Evaluation</vt:lpstr>
      <vt:lpstr>Confusion Matrix: Per Language</vt:lpstr>
      <vt:lpstr>Error Analysis: Insights</vt:lpstr>
      <vt:lpstr>Rule-Based Baseline: Simple Heuristic</vt:lpstr>
      <vt:lpstr>Rule-Based Baseline: POS pattern</vt:lpstr>
      <vt:lpstr>ML Classifier for Word Order</vt:lpstr>
      <vt:lpstr>Evaluation: ML Classifier </vt:lpstr>
      <vt:lpstr>Insights</vt:lpstr>
      <vt:lpstr>Insights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Order in News Texts</dc:title>
  <dc:creator>Emily Jacob</dc:creator>
  <cp:lastModifiedBy>Tleules, Assylbek</cp:lastModifiedBy>
  <cp:revision>11</cp:revision>
  <dcterms:created xsi:type="dcterms:W3CDTF">2026-01-15T19:54:39Z</dcterms:created>
  <dcterms:modified xsi:type="dcterms:W3CDTF">2026-01-15T22:59:37Z</dcterms:modified>
</cp:coreProperties>
</file>