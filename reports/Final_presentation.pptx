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1" r:id="rId8"/>
    <p:sldId id="272" r:id="rId9"/>
    <p:sldId id="273" r:id="rId10"/>
    <p:sldId id="260" r:id="rId11"/>
    <p:sldId id="263" r:id="rId12"/>
    <p:sldId id="261" r:id="rId13"/>
    <p:sldId id="262" r:id="rId14"/>
    <p:sldId id="270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-376" y="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95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30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28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42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59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69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7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28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32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56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416B74-C3BC-4669-B359-CAC83897A264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BDEDCE-FBD4-4C70-BA14-0B52C0ABA15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95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3B08-FBAE-67CD-0E84-19A66A7A5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98" y="1570007"/>
            <a:ext cx="9144000" cy="1082915"/>
          </a:xfrm>
        </p:spPr>
        <p:txBody>
          <a:bodyPr>
            <a:normAutofit/>
          </a:bodyPr>
          <a:lstStyle/>
          <a:p>
            <a:r>
              <a:rPr lang="en-GB" sz="6600" dirty="0">
                <a:effectLst/>
                <a:latin typeface="CMBX12"/>
              </a:rPr>
              <a:t>Word Order in News Texts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57286-54BE-EBAD-9C45-A331986AF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198" y="4468483"/>
            <a:ext cx="9560942" cy="1199072"/>
          </a:xfrm>
        </p:spPr>
        <p:txBody>
          <a:bodyPr>
            <a:noAutofit/>
          </a:bodyPr>
          <a:lstStyle/>
          <a:p>
            <a:pPr algn="r"/>
            <a:r>
              <a:rPr lang="en-GB" b="1" kern="0" dirty="0">
                <a:solidFill>
                  <a:srgbClr val="000000"/>
                </a:solidFill>
                <a:latin typeface="-webkit-standard"/>
              </a:rPr>
              <a:t>Corpus Crew (Group 10)</a:t>
            </a:r>
            <a:br>
              <a:rPr lang="en-GB" b="1" kern="0" dirty="0">
                <a:solidFill>
                  <a:srgbClr val="000000"/>
                </a:solidFill>
                <a:latin typeface="-webkit-standard"/>
              </a:rPr>
            </a:br>
            <a:r>
              <a:rPr lang="en-IN" kern="0" dirty="0" err="1">
                <a:solidFill>
                  <a:srgbClr val="000000"/>
                </a:solidFill>
                <a:latin typeface="Calibri" pitchFamily="34" charset="0"/>
              </a:rPr>
              <a:t>Assylbek</a:t>
            </a: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 </a:t>
            </a:r>
            <a:r>
              <a:rPr lang="en-IN" kern="0" dirty="0" err="1">
                <a:solidFill>
                  <a:srgbClr val="000000"/>
                </a:solidFill>
                <a:latin typeface="Calibri" pitchFamily="34" charset="0"/>
              </a:rPr>
              <a:t>Tleules</a:t>
            </a: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 – 12432843</a:t>
            </a:r>
            <a:br>
              <a:rPr lang="en-IN" kern="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Emily Jacob – 12143768</a:t>
            </a:r>
            <a:br>
              <a:rPr lang="en-IN" kern="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Luka </a:t>
            </a:r>
            <a:r>
              <a:rPr lang="en-IN" kern="0" dirty="0" err="1">
                <a:solidFill>
                  <a:srgbClr val="000000"/>
                </a:solidFill>
                <a:latin typeface="Calibri" pitchFamily="34" charset="0"/>
              </a:rPr>
              <a:t>Santek</a:t>
            </a: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 – 12332270</a:t>
            </a:r>
            <a:br>
              <a:rPr lang="en-IN" kern="0" dirty="0">
                <a:solidFill>
                  <a:srgbClr val="000000"/>
                </a:solidFill>
                <a:latin typeface="Calibri" pitchFamily="34" charset="0"/>
              </a:rPr>
            </a:br>
            <a:r>
              <a:rPr lang="en-IN" kern="0" dirty="0" err="1">
                <a:solidFill>
                  <a:srgbClr val="000000"/>
                </a:solidFill>
                <a:latin typeface="Calibri" pitchFamily="34" charset="0"/>
              </a:rPr>
              <a:t>Tehseen</a:t>
            </a:r>
            <a:r>
              <a:rPr lang="en-IN" kern="0" dirty="0">
                <a:solidFill>
                  <a:srgbClr val="000000"/>
                </a:solidFill>
                <a:latin typeface="Calibri" pitchFamily="34" charset="0"/>
              </a:rPr>
              <a:t> Ali Tahir - 12433763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91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6ED3-784E-F8F0-335E-510739CE4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2D41D-C3F0-2CD8-CDB8-F58FA8690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is the distribution of word order types (SVO, SOV, VSO, etc.) in each language?”</a:t>
            </a:r>
          </a:p>
          <a:p>
            <a:endParaRPr lang="en-US" dirty="0"/>
          </a:p>
          <a:p>
            <a:r>
              <a:rPr lang="en-US" dirty="0"/>
              <a:t>“Do flexible-order languages (e.g., Spanish, Greek) show an increased preference for SVO</a:t>
            </a:r>
          </a:p>
          <a:p>
            <a:r>
              <a:rPr lang="en-US" dirty="0"/>
              <a:t>after 2022 compared to before?”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48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C521-393C-8D4D-FDC0-31DD6868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DFAE5-A510-9EC8-9D46-026DF0DE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</a:t>
            </a:r>
            <a:r>
              <a:rPr lang="en-US" dirty="0"/>
              <a:t>: Leipzig News Corpora</a:t>
            </a:r>
          </a:p>
          <a:p>
            <a:r>
              <a:rPr lang="en-US" b="1" dirty="0"/>
              <a:t>Languages</a:t>
            </a:r>
            <a:r>
              <a:rPr lang="en-US" dirty="0"/>
              <a:t>: English, Russian, German </a:t>
            </a:r>
          </a:p>
          <a:p>
            <a:r>
              <a:rPr lang="en-US" b="1" dirty="0"/>
              <a:t>Number of sentences/year</a:t>
            </a:r>
            <a:r>
              <a:rPr lang="en-US" dirty="0"/>
              <a:t>: 10,000</a:t>
            </a:r>
          </a:p>
          <a:p>
            <a:r>
              <a:rPr lang="en-US" b="1" dirty="0"/>
              <a:t>English:</a:t>
            </a:r>
            <a:r>
              <a:rPr lang="en-US" dirty="0"/>
              <a:t> 2018, 2019, 2020, 2023, 2024</a:t>
            </a:r>
          </a:p>
          <a:p>
            <a:r>
              <a:rPr lang="en-US" b="1" dirty="0"/>
              <a:t>German</a:t>
            </a:r>
            <a:r>
              <a:rPr lang="en-US" dirty="0"/>
              <a:t>: 2019, 2022, 2023, 2024</a:t>
            </a:r>
          </a:p>
          <a:p>
            <a:r>
              <a:rPr lang="en-US" b="1" dirty="0"/>
              <a:t>Russian</a:t>
            </a:r>
            <a:r>
              <a:rPr lang="en-US" dirty="0"/>
              <a:t>: 2013, 2019, 2020, 2022, 2024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4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2BCA-3A3E-72E2-E9B1-30662FC9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A4F1-8315-9632-5AB2-B858AA49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315467" cy="4279021"/>
          </a:xfrm>
        </p:spPr>
        <p:txBody>
          <a:bodyPr>
            <a:noAutofit/>
          </a:bodyPr>
          <a:lstStyle/>
          <a:p>
            <a:pPr lvl="0"/>
            <a:r>
              <a:rPr lang="en-US" sz="1600" b="1" dirty="0"/>
              <a:t>1</a:t>
            </a:r>
            <a:r>
              <a:rPr lang="en-IN" sz="1600" b="1" dirty="0"/>
              <a:t>. Data Merge/Cleaning</a:t>
            </a:r>
          </a:p>
          <a:p>
            <a:pPr lvl="1"/>
            <a:r>
              <a:rPr lang="en-IN" sz="1600" dirty="0"/>
              <a:t>Merge datasets and metadata</a:t>
            </a:r>
          </a:p>
          <a:p>
            <a:pPr lvl="1"/>
            <a:r>
              <a:rPr lang="en-IN" sz="1600" dirty="0"/>
              <a:t>Remove URLs, HTML tags, extra whitespace</a:t>
            </a:r>
          </a:p>
          <a:p>
            <a:pPr lvl="1"/>
            <a:r>
              <a:rPr lang="en-IN" sz="1600" dirty="0"/>
              <a:t>Strip quotes and normalize punctuation</a:t>
            </a:r>
          </a:p>
          <a:p>
            <a:pPr lvl="0"/>
            <a:r>
              <a:rPr lang="en-IN" sz="1600" b="1" dirty="0"/>
              <a:t>2. Filtering</a:t>
            </a:r>
            <a:endParaRPr lang="en-IN" sz="1600" dirty="0"/>
          </a:p>
          <a:p>
            <a:pPr lvl="1"/>
            <a:r>
              <a:rPr lang="en-IN" sz="1600" dirty="0"/>
              <a:t>Remove duplicate sentences</a:t>
            </a:r>
          </a:p>
          <a:p>
            <a:pPr lvl="1"/>
            <a:r>
              <a:rPr lang="en-IN" sz="1600" dirty="0"/>
              <a:t>Remove sentences &lt; 8 tokens</a:t>
            </a:r>
          </a:p>
          <a:p>
            <a:pPr lvl="0"/>
            <a:r>
              <a:rPr lang="en-IN" sz="1600" b="1" dirty="0"/>
              <a:t>3. Metadata Handling</a:t>
            </a:r>
            <a:endParaRPr lang="en-IN" sz="1600" dirty="0"/>
          </a:p>
          <a:p>
            <a:pPr lvl="1"/>
            <a:r>
              <a:rPr lang="en-IN" sz="1600" dirty="0"/>
              <a:t>Preserve: year, source, date, language</a:t>
            </a:r>
          </a:p>
          <a:p>
            <a:pPr lvl="1"/>
            <a:r>
              <a:rPr lang="en-IN" sz="1600" dirty="0"/>
              <a:t>Label Pre/Post GPT based on date metadata</a:t>
            </a:r>
          </a:p>
          <a:p>
            <a:pPr lvl="0"/>
            <a:r>
              <a:rPr lang="en-IN" sz="1600" b="1" dirty="0"/>
              <a:t>4. Output</a:t>
            </a:r>
            <a:endParaRPr lang="en-IN" sz="1600" dirty="0"/>
          </a:p>
          <a:p>
            <a:pPr lvl="1"/>
            <a:r>
              <a:rPr lang="en-IN" sz="1600" dirty="0"/>
              <a:t>Clean TSVs per language: </a:t>
            </a:r>
            <a:r>
              <a:rPr lang="en-IN" sz="1600" dirty="0" err="1"/>
              <a:t>language_year.tsv</a:t>
            </a:r>
            <a:endParaRPr lang="en-IN" sz="1600" dirty="0"/>
          </a:p>
          <a:p>
            <a:pPr lvl="0"/>
            <a:r>
              <a:rPr lang="en-IN" sz="1800" b="1" dirty="0"/>
              <a:t>After pre-processing, we were left with 154k sentences ready for Stanza annotation!</a:t>
            </a:r>
          </a:p>
          <a:p>
            <a:pPr marL="201168" lvl="1" indent="0">
              <a:buNone/>
            </a:pPr>
            <a:endParaRPr lang="en-US" b="1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8419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2D6D-FFDF-138B-9A1A-3662D3C71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Lingustic</a:t>
            </a:r>
            <a:r>
              <a:rPr lang="en-IN" dirty="0"/>
              <a:t>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7223-41F2-2B2F-7FA7-13F3ECDDA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Stanza models loaded per language: </a:t>
            </a:r>
            <a:r>
              <a:rPr lang="en-IN" dirty="0" err="1"/>
              <a:t>en</a:t>
            </a:r>
            <a:r>
              <a:rPr lang="en-IN" dirty="0"/>
              <a:t>, de, </a:t>
            </a:r>
            <a:r>
              <a:rPr lang="en-IN" dirty="0" err="1"/>
              <a:t>ru</a:t>
            </a:r>
            <a:endParaRPr lang="en-IN" dirty="0"/>
          </a:p>
          <a:p>
            <a:pPr lvl="0"/>
            <a:r>
              <a:rPr lang="en-IN" dirty="0"/>
              <a:t>Processed with:</a:t>
            </a:r>
          </a:p>
          <a:p>
            <a:pPr lvl="1"/>
            <a:r>
              <a:rPr lang="en-IN" b="1" dirty="0"/>
              <a:t>Tokenization</a:t>
            </a:r>
            <a:r>
              <a:rPr lang="en-IN" dirty="0"/>
              <a:t> → split sentences into words/punctuation</a:t>
            </a:r>
          </a:p>
          <a:p>
            <a:pPr lvl="1"/>
            <a:r>
              <a:rPr lang="en-IN" b="1" dirty="0"/>
              <a:t>Lemmatization</a:t>
            </a:r>
            <a:r>
              <a:rPr lang="en-IN" dirty="0"/>
              <a:t> → normalize words to base form</a:t>
            </a:r>
          </a:p>
          <a:p>
            <a:pPr lvl="1"/>
            <a:r>
              <a:rPr lang="en-IN" b="1" dirty="0"/>
              <a:t>POS tagging</a:t>
            </a:r>
            <a:r>
              <a:rPr lang="en-IN" dirty="0"/>
              <a:t> → identify nouns, verbs, etc.</a:t>
            </a:r>
          </a:p>
          <a:p>
            <a:pPr lvl="1"/>
            <a:r>
              <a:rPr lang="en-IN" b="1" dirty="0"/>
              <a:t>Dependency parsing</a:t>
            </a:r>
            <a:r>
              <a:rPr lang="en-IN" dirty="0"/>
              <a:t> → find grammatical relationships (subject → verb → object)</a:t>
            </a:r>
          </a:p>
          <a:p>
            <a:pPr lvl="0"/>
            <a:r>
              <a:rPr lang="en-US" b="1" dirty="0"/>
              <a:t>Output</a:t>
            </a:r>
          </a:p>
          <a:p>
            <a:pPr lvl="1"/>
            <a:r>
              <a:rPr lang="en-US" dirty="0"/>
              <a:t>Each sentence annotated in </a:t>
            </a:r>
            <a:r>
              <a:rPr lang="en-US" b="1" dirty="0" err="1"/>
              <a:t>CoNLL</a:t>
            </a:r>
            <a:r>
              <a:rPr lang="en-US" b="1" dirty="0"/>
              <a:t>-U format</a:t>
            </a:r>
            <a:endParaRPr lang="en-US" dirty="0"/>
          </a:p>
          <a:p>
            <a:pPr lvl="1"/>
            <a:r>
              <a:rPr lang="en-US" dirty="0"/>
              <a:t>Metadata preserved: year, period, sentence ID, sentence as comments</a:t>
            </a:r>
          </a:p>
          <a:p>
            <a:pPr lvl="1"/>
            <a:r>
              <a:rPr lang="en-US" dirty="0"/>
              <a:t>Ready for </a:t>
            </a:r>
            <a:r>
              <a:rPr lang="en-US" b="1" dirty="0"/>
              <a:t>Ground Truth and Rule-based/ML classifiers</a:t>
            </a:r>
            <a:endParaRPr lang="en-US" dirty="0"/>
          </a:p>
          <a:p>
            <a:pPr marL="201168" lvl="1" indent="0">
              <a:buNone/>
            </a:pP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90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3F17-5401-F0F2-2DBA-82749913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Ground Truths using Stanza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FBD6-A19F-729A-A128-B0215DCC1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/>
              <a:t>3 Step Algorithm:</a:t>
            </a:r>
            <a:endParaRPr lang="en-US" dirty="0"/>
          </a:p>
          <a:p>
            <a:pPr lvl="1"/>
            <a:r>
              <a:rPr lang="en-IN" dirty="0"/>
              <a:t>1. Find root verb -  Looks for: </a:t>
            </a:r>
            <a:r>
              <a:rPr lang="en-IN" dirty="0" err="1"/>
              <a:t>deprel</a:t>
            </a:r>
            <a:r>
              <a:rPr lang="en-IN" dirty="0"/>
              <a:t>='root' and POS='VERB'/'AUX’</a:t>
            </a:r>
          </a:p>
          <a:p>
            <a:pPr lvl="1"/>
            <a:r>
              <a:rPr lang="en-US" dirty="0"/>
              <a:t>2. Extract S &amp; O connected to root verb</a:t>
            </a:r>
            <a:r>
              <a:rPr lang="en-IN" dirty="0"/>
              <a:t>:</a:t>
            </a:r>
            <a:endParaRPr lang="en-US" dirty="0"/>
          </a:p>
          <a:p>
            <a:pPr lvl="2"/>
            <a:r>
              <a:rPr lang="en-US" dirty="0"/>
              <a:t>Subject: </a:t>
            </a:r>
            <a:r>
              <a:rPr lang="en-US" dirty="0" err="1"/>
              <a:t>deprel</a:t>
            </a:r>
            <a:r>
              <a:rPr lang="en-US" dirty="0"/>
              <a:t>='</a:t>
            </a:r>
            <a:r>
              <a:rPr lang="en-US" dirty="0" err="1"/>
              <a:t>nsubj</a:t>
            </a:r>
            <a:r>
              <a:rPr lang="en-US" dirty="0"/>
              <a:t>', head=</a:t>
            </a:r>
            <a:r>
              <a:rPr lang="en-US" dirty="0" err="1"/>
              <a:t>root_verb_id</a:t>
            </a:r>
            <a:endParaRPr lang="en-US" dirty="0"/>
          </a:p>
          <a:p>
            <a:pPr lvl="2"/>
            <a:r>
              <a:rPr lang="en-US" dirty="0"/>
              <a:t>Object: </a:t>
            </a:r>
            <a:r>
              <a:rPr lang="en-US" dirty="0" err="1"/>
              <a:t>deprel</a:t>
            </a:r>
            <a:r>
              <a:rPr lang="en-US" dirty="0"/>
              <a:t>='obj', head=</a:t>
            </a:r>
            <a:r>
              <a:rPr lang="en-US" dirty="0" err="1"/>
              <a:t>root_verb_id</a:t>
            </a:r>
            <a:endParaRPr lang="en-US" dirty="0"/>
          </a:p>
          <a:p>
            <a:pPr lvl="2"/>
            <a:r>
              <a:rPr lang="en-US" dirty="0"/>
              <a:t>Constraint: must point to main verb</a:t>
            </a:r>
          </a:p>
          <a:p>
            <a:pPr lvl="1"/>
            <a:r>
              <a:rPr lang="en-US" dirty="0"/>
              <a:t>3. Compare positions -&gt; classify order</a:t>
            </a:r>
          </a:p>
          <a:p>
            <a:pPr lvl="2"/>
            <a:r>
              <a:rPr lang="pt-BR" dirty="0"/>
              <a:t>SVO, SOV, VSO, VOS, OSV, OVS</a:t>
            </a:r>
            <a:endParaRPr lang="en-US" dirty="0"/>
          </a:p>
          <a:p>
            <a:pPr lvl="2"/>
            <a:r>
              <a:rPr lang="en-US" dirty="0"/>
              <a:t>Partial orders: </a:t>
            </a:r>
            <a:r>
              <a:rPr lang="en-US" dirty="0" err="1"/>
              <a:t>SV_only</a:t>
            </a:r>
            <a:r>
              <a:rPr lang="en-US" dirty="0"/>
              <a:t>, </a:t>
            </a:r>
            <a:r>
              <a:rPr lang="en-US" dirty="0" err="1"/>
              <a:t>VO_only</a:t>
            </a:r>
            <a:r>
              <a:rPr lang="en-US" dirty="0"/>
              <a:t>, </a:t>
            </a:r>
            <a:r>
              <a:rPr lang="en-US" dirty="0" err="1"/>
              <a:t>SO_only</a:t>
            </a:r>
            <a:endParaRPr lang="en-US" dirty="0"/>
          </a:p>
          <a:p>
            <a:pPr lvl="2"/>
            <a:r>
              <a:rPr lang="en-IN" dirty="0"/>
              <a:t>If missing  -&gt; INCOMPLETE</a:t>
            </a:r>
          </a:p>
          <a:p>
            <a:pPr marL="384048" lvl="2" indent="0">
              <a:buNone/>
            </a:pPr>
            <a:r>
              <a:rPr lang="en-IN" b="1" dirty="0"/>
              <a:t>Limitations:</a:t>
            </a:r>
          </a:p>
          <a:p>
            <a:pPr lvl="2"/>
            <a:r>
              <a:rPr lang="en-IN" dirty="0"/>
              <a:t>Parser errors - 15-25% of labels may have parser errors</a:t>
            </a:r>
          </a:p>
          <a:p>
            <a:pPr lvl="2"/>
            <a:r>
              <a:rPr lang="en-IN" dirty="0"/>
              <a:t>Main clause only - Ignores subordinate clauses</a:t>
            </a:r>
          </a:p>
          <a:p>
            <a:pPr lvl="2"/>
            <a:r>
              <a:rPr lang="en-IN" dirty="0"/>
              <a:t>Coordination  - Takes first subject/object only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5096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4A8C-5C72-C87B-4AB6-11CCCD3F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Stanza Annotation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BA3E-9356-6E12-01A4-5F9F881C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Evaluation</a:t>
            </a:r>
            <a:r>
              <a:rPr lang="en-IN" dirty="0"/>
              <a:t> of Stanza Annotations</a:t>
            </a:r>
          </a:p>
          <a:p>
            <a:pPr lvl="1"/>
            <a:r>
              <a:rPr lang="en-IN" dirty="0"/>
              <a:t>Manually annotated Subject, Verb, Object order of 20 sentences from the test set to evaluate Stanza ground truth.</a:t>
            </a:r>
            <a:endParaRPr lang="en-US" dirty="0"/>
          </a:p>
          <a:p>
            <a:pPr lvl="1"/>
            <a:r>
              <a:rPr lang="en-US" dirty="0"/>
              <a:t>Metric: </a:t>
            </a:r>
            <a:r>
              <a:rPr lang="en-US" b="1" dirty="0"/>
              <a:t>Exact word order match</a:t>
            </a:r>
          </a:p>
          <a:p>
            <a:pPr lvl="1"/>
            <a:r>
              <a:rPr lang="en-US" b="1" dirty="0"/>
              <a:t>Overall Accuracy: 55% (33/60 correct)</a:t>
            </a:r>
          </a:p>
          <a:p>
            <a:pPr lvl="1"/>
            <a:r>
              <a:rPr lang="en-US" b="1" dirty="0"/>
              <a:t>Per language accuracy:</a:t>
            </a:r>
          </a:p>
          <a:p>
            <a:pPr lvl="2"/>
            <a:r>
              <a:rPr lang="en-US" b="1" dirty="0"/>
              <a:t>Russian – 70% (14/20 correct)</a:t>
            </a:r>
          </a:p>
          <a:p>
            <a:pPr lvl="2"/>
            <a:r>
              <a:rPr lang="en-US" b="1" dirty="0"/>
              <a:t>English – 65% (13/20 correct)</a:t>
            </a:r>
          </a:p>
          <a:p>
            <a:pPr lvl="2"/>
            <a:r>
              <a:rPr lang="en-US" b="1" dirty="0"/>
              <a:t>German – 30% (6/20 correct)</a:t>
            </a:r>
          </a:p>
          <a:p>
            <a:pPr lvl="1"/>
            <a:r>
              <a:rPr lang="en-US" b="1" dirty="0"/>
              <a:t>Implies language-specific extraction issues.</a:t>
            </a:r>
          </a:p>
          <a:p>
            <a:pPr lvl="1"/>
            <a:endParaRPr lang="en-US" b="1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98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7177-3D7A-FBED-D7EF-A05CBB2E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Matrix: Per Language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DF9BD-98E1-81F1-AF66-584D65F3E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168586"/>
            <a:ext cx="10058400" cy="33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52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DEE5-EE43-DE3A-591C-B516D8B9C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F6B3-A7CC-00AF-A720-4A5525DF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Russian:</a:t>
            </a:r>
          </a:p>
          <a:p>
            <a:pPr lvl="1"/>
            <a:r>
              <a:rPr lang="en-IN" dirty="0"/>
              <a:t>Stanza dependencies are reliable. -&gt; mostly correct SVO.SOV classifications.</a:t>
            </a:r>
          </a:p>
          <a:p>
            <a:r>
              <a:rPr lang="en-IN" dirty="0"/>
              <a:t>English:</a:t>
            </a:r>
          </a:p>
          <a:p>
            <a:pPr lvl="1"/>
            <a:r>
              <a:rPr lang="en-US" dirty="0"/>
              <a:t>Failed to extract objects correctly -&gt; SVO is sometimes misclassified as SV-only or VO-only.</a:t>
            </a:r>
            <a:endParaRPr lang="en-IN" dirty="0"/>
          </a:p>
          <a:p>
            <a:r>
              <a:rPr lang="en-IN" dirty="0"/>
              <a:t>German:</a:t>
            </a:r>
          </a:p>
          <a:p>
            <a:pPr lvl="1"/>
            <a:r>
              <a:rPr lang="en-IN" dirty="0"/>
              <a:t>Extraction fails to differentiate auxiliary verb and lexical verb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811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1FEB-8C0C-4F36-42E9-88C9CE10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Rule-Based Baseline: Simple Heuristic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7AD1C-032D-954A-0702-626E15C31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KZ" sz="1800" b="1" dirty="0"/>
              <a:t>4 Step Algorithm:</a:t>
            </a:r>
            <a:endParaRPr lang="en-IN" sz="1800" b="1" dirty="0"/>
          </a:p>
          <a:p>
            <a:pPr lvl="1"/>
            <a:r>
              <a:rPr lang="en-US" dirty="0"/>
              <a:t> Find first verb - scan left to right, stop at first VERB or AUX</a:t>
            </a:r>
          </a:p>
          <a:p>
            <a:pPr lvl="1"/>
            <a:r>
              <a:rPr lang="en-US" dirty="0"/>
              <a:t> Look before the verb - are there any nouns/pronouns?</a:t>
            </a:r>
          </a:p>
          <a:p>
            <a:pPr lvl="1"/>
            <a:r>
              <a:rPr lang="en-US" dirty="0"/>
              <a:t> Look after the verb - are there any nouns/pronouns?</a:t>
            </a:r>
          </a:p>
          <a:p>
            <a:pPr lvl="1"/>
            <a:r>
              <a:rPr lang="en-US" dirty="0"/>
              <a:t>Classify:</a:t>
            </a:r>
          </a:p>
          <a:p>
            <a:pPr lvl="2"/>
            <a:r>
              <a:rPr lang="en-US" sz="1800" dirty="0"/>
              <a:t> Nouns both before AND after -&gt; must be SVO!</a:t>
            </a:r>
          </a:p>
          <a:p>
            <a:pPr lvl="2"/>
            <a:r>
              <a:rPr lang="en-US" sz="1800" dirty="0"/>
              <a:t>Only before -&gt; </a:t>
            </a:r>
            <a:r>
              <a:rPr lang="en-US" sz="1800" dirty="0" err="1"/>
              <a:t>SV_only</a:t>
            </a:r>
            <a:endParaRPr lang="en-US" sz="1800" dirty="0"/>
          </a:p>
          <a:p>
            <a:pPr lvl="2"/>
            <a:r>
              <a:rPr lang="en-US" sz="1800" dirty="0"/>
              <a:t>Only after -&gt; </a:t>
            </a:r>
            <a:r>
              <a:rPr lang="en-US" sz="1800" dirty="0" err="1"/>
              <a:t>VO_only</a:t>
            </a:r>
            <a:r>
              <a:rPr lang="en-US" sz="1800" dirty="0"/>
              <a:t> </a:t>
            </a:r>
          </a:p>
          <a:p>
            <a:pPr lvl="2"/>
            <a:r>
              <a:rPr lang="en-US" sz="1800" dirty="0"/>
              <a:t>Neither -&gt; INCOMPLETE</a:t>
            </a:r>
          </a:p>
          <a:p>
            <a:pPr marL="0" indent="0">
              <a:buNone/>
            </a:pPr>
            <a:r>
              <a:rPr lang="en-US" sz="1800" b="1" dirty="0"/>
              <a:t>The problem</a:t>
            </a:r>
            <a:r>
              <a:rPr lang="en-US" sz="1800" dirty="0"/>
              <a:t>: It doesn't understand which nouns go with which verbs. It just assumes positional proximity = relationship.</a:t>
            </a:r>
            <a:endParaRPr lang="en-KZ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2647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D179-9F90-E42D-B3A1-98FBAF6B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Rule-Based Baseline: POS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C0AFC-C061-518B-EF0D-18AF9A79C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400" b="1" dirty="0"/>
              <a:t>3</a:t>
            </a:r>
            <a:r>
              <a:rPr lang="en-KZ" sz="1400" b="1" dirty="0"/>
              <a:t> Step Algorithm:</a:t>
            </a:r>
            <a:endParaRPr lang="en-IN" sz="1400" b="1" dirty="0"/>
          </a:p>
          <a:p>
            <a:r>
              <a:rPr lang="en-IN" sz="1400" b="1" dirty="0"/>
              <a:t>1. Collect all positions</a:t>
            </a:r>
          </a:p>
          <a:p>
            <a:pPr lvl="1"/>
            <a:r>
              <a:rPr lang="en-US" sz="1400" dirty="0"/>
              <a:t>Make a list of all nouns with their positions: [(N, 2), (N, 5), (N, 8)]</a:t>
            </a:r>
          </a:p>
          <a:p>
            <a:pPr lvl="1">
              <a:spcAft>
                <a:spcPts val="0"/>
              </a:spcAft>
            </a:pPr>
            <a:r>
              <a:rPr lang="en-US" sz="1400" dirty="0"/>
              <a:t>Make a list of all verbs with their positions: [(V, 3), (V, 10)] Look after the verb - are there any nouns/pronouns?</a:t>
            </a:r>
          </a:p>
          <a:p>
            <a:r>
              <a:rPr lang="en-IN" sz="1400" b="1" dirty="0"/>
              <a:t>2. Pick candidates:</a:t>
            </a:r>
          </a:p>
          <a:p>
            <a:pPr lvl="2"/>
            <a:r>
              <a:rPr lang="en-US" dirty="0"/>
              <a:t>Subject = first noun</a:t>
            </a:r>
          </a:p>
          <a:p>
            <a:pPr lvl="2"/>
            <a:r>
              <a:rPr lang="en-US" dirty="0"/>
              <a:t>Verb = first verb</a:t>
            </a:r>
          </a:p>
          <a:p>
            <a:pPr lvl="2"/>
            <a:r>
              <a:rPr lang="en-US" dirty="0"/>
              <a:t>Object = second noun</a:t>
            </a:r>
          </a:p>
          <a:p>
            <a:pPr lvl="2"/>
            <a:r>
              <a:rPr lang="en-US" dirty="0"/>
              <a:t>If we </a:t>
            </a:r>
            <a:r>
              <a:rPr lang="en-US" dirty="0" err="1"/>
              <a:t>dont</a:t>
            </a:r>
            <a:r>
              <a:rPr lang="en-US" dirty="0"/>
              <a:t> have at least 2 nouns and 1 verb -&gt; INCOMPLETE</a:t>
            </a:r>
          </a:p>
          <a:p>
            <a:r>
              <a:rPr lang="en-US" sz="1400" b="1" dirty="0"/>
              <a:t> 3. Compare positions and classify:</a:t>
            </a:r>
          </a:p>
          <a:p>
            <a:pPr lvl="2"/>
            <a:r>
              <a:rPr lang="en-US" dirty="0"/>
              <a:t>If N1 &lt; V &lt; N2: SVO (noun, verb, noun)</a:t>
            </a:r>
          </a:p>
          <a:p>
            <a:pPr lvl="2"/>
            <a:r>
              <a:rPr lang="en-US" dirty="0"/>
              <a:t>  If N1 &lt; N2 &lt; V: SOV (noun, noun, verb)</a:t>
            </a:r>
          </a:p>
          <a:p>
            <a:pPr lvl="2"/>
            <a:r>
              <a:rPr lang="en-US" dirty="0"/>
              <a:t>  If V &lt; N1 &lt; N2: VSO (verb, noun, noun)</a:t>
            </a:r>
          </a:p>
          <a:p>
            <a:pPr marL="0" indent="0">
              <a:buNone/>
            </a:pPr>
            <a:r>
              <a:rPr lang="en-US" sz="1400" dirty="0"/>
              <a:t>It still doesn't understand GRAMMAR. It just looks at word category (noun vs verb) and position.</a:t>
            </a:r>
          </a:p>
        </p:txBody>
      </p:sp>
    </p:spTree>
    <p:extLst>
      <p:ext uri="{BB962C8B-B14F-4D97-AF65-F5344CB8AC3E}">
        <p14:creationId xmlns:p14="http://schemas.microsoft.com/office/powerpoint/2010/main" val="232007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342A-E18B-DC40-2AC6-DC044874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Classifier for Word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10E22-7111-7FBC-55FD-61B88FBEB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HR" b="1" dirty="0"/>
              <a:t> Stanza </a:t>
            </a:r>
            <a:r>
              <a:rPr lang="en-HR" dirty="0"/>
              <a:t>as a ground truth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R" dirty="0"/>
              <a:t> </a:t>
            </a:r>
            <a:r>
              <a:rPr lang="en-HR" b="1" dirty="0"/>
              <a:t>Algorithms</a:t>
            </a:r>
            <a:r>
              <a:rPr lang="en-HR" dirty="0"/>
              <a:t>: SVM, Na</a:t>
            </a:r>
            <a:r>
              <a:rPr lang="en-US" dirty="0"/>
              <a:t>ï</a:t>
            </a:r>
            <a:r>
              <a:rPr lang="en-HR" dirty="0"/>
              <a:t>ve Bayes, 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R" dirty="0"/>
              <a:t> </a:t>
            </a:r>
            <a:r>
              <a:rPr lang="en-HR" b="1" dirty="0"/>
              <a:t>Feature extractors: </a:t>
            </a:r>
            <a:r>
              <a:rPr lang="en-HR" dirty="0"/>
              <a:t>BoW, TF-IDF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HR" dirty="0"/>
              <a:t> </a:t>
            </a:r>
            <a:r>
              <a:rPr lang="en-HR" b="1" dirty="0"/>
              <a:t>Workflow: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Perform cross-validation and hyperparameter tuning on the training set using GridSearchCV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Select the best hyperparameter configuration for each (model, feature extractor) combination based on weighted F1-score.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Evaluate the best configuration of each combination on a held-out validation set.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Compare models using validation metrics (F1, balanced accuracy, precision, recall) and select the overall best-performing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Leave the test set unseen for final comparison with rule-based models</a:t>
            </a:r>
            <a:endParaRPr lang="en-HR" altLang="en-HR" b="1" dirty="0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Final best model was chosen based on in-depth analysis and evaluation on test 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HR" altLang="en-HR" dirty="0">
                <a:solidFill>
                  <a:srgbClr val="000000"/>
                </a:solidFill>
              </a:rPr>
              <a:t>Evaluation was done separately for binary classification and multiclass classification task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HR" altLang="en-HR" dirty="0">
              <a:solidFill>
                <a:srgbClr val="0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025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EB14-6C68-BE43-8234-708DE3F8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Evaluation: ML Classifier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B74F5-2C23-6556-D4CD-CD3AD449B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Evaluation Setup:</a:t>
            </a:r>
          </a:p>
          <a:p>
            <a:pPr lvl="1"/>
            <a:r>
              <a:rPr lang="en-IN" dirty="0"/>
              <a:t>Train /validation split</a:t>
            </a:r>
          </a:p>
          <a:p>
            <a:pPr lvl="1"/>
            <a:r>
              <a:rPr lang="en-IN" dirty="0" err="1"/>
              <a:t>GridSearchCV</a:t>
            </a:r>
            <a:r>
              <a:rPr lang="en-IN" dirty="0"/>
              <a:t> with cross-validation</a:t>
            </a:r>
          </a:p>
          <a:p>
            <a:r>
              <a:rPr lang="en-IN" b="1" dirty="0"/>
              <a:t>Metrics used:</a:t>
            </a:r>
          </a:p>
          <a:p>
            <a:pPr lvl="1"/>
            <a:r>
              <a:rPr lang="en-IN" dirty="0"/>
              <a:t>Accuracy</a:t>
            </a:r>
          </a:p>
          <a:p>
            <a:pPr lvl="1"/>
            <a:r>
              <a:rPr lang="en-IN" dirty="0"/>
              <a:t>Balanced Accuracy</a:t>
            </a:r>
          </a:p>
          <a:p>
            <a:pPr lvl="1"/>
            <a:r>
              <a:rPr lang="en-IN" dirty="0"/>
              <a:t>Macro F1</a:t>
            </a:r>
          </a:p>
          <a:p>
            <a:r>
              <a:rPr lang="en-IN" b="1" dirty="0"/>
              <a:t>Why balanced metrics?</a:t>
            </a:r>
          </a:p>
          <a:p>
            <a:pPr lvl="1"/>
            <a:r>
              <a:rPr lang="en-US" dirty="0"/>
              <a:t>Strong </a:t>
            </a:r>
            <a:r>
              <a:rPr lang="en-US" b="1" dirty="0"/>
              <a:t>class imbalance</a:t>
            </a:r>
            <a:r>
              <a:rPr lang="en-US" dirty="0"/>
              <a:t> (SVO dominates)</a:t>
            </a:r>
          </a:p>
          <a:p>
            <a:pPr lvl="1"/>
            <a:r>
              <a:rPr lang="en-US" dirty="0"/>
              <a:t>Accuracy alone would overestimate performance</a:t>
            </a:r>
          </a:p>
          <a:p>
            <a:pPr lvl="1"/>
            <a:endParaRPr lang="en-IN" b="1" dirty="0"/>
          </a:p>
          <a:p>
            <a:r>
              <a:rPr lang="en-IN" b="1" u="sng" dirty="0"/>
              <a:t>BEST Multiclass ML MODEL</a:t>
            </a:r>
            <a:r>
              <a:rPr lang="en-IN" b="1" dirty="0"/>
              <a:t>: </a:t>
            </a:r>
          </a:p>
          <a:p>
            <a:r>
              <a:rPr lang="en-IN" b="1" dirty="0"/>
              <a:t>Logistic Regression -&gt; Bal. Accuracy of 46.1 %</a:t>
            </a:r>
          </a:p>
          <a:p>
            <a:pPr marL="201168" lvl="1" indent="0">
              <a:buNone/>
            </a:pPr>
            <a:r>
              <a:rPr lang="en-IN" b="1" dirty="0"/>
              <a:t>	</a:t>
            </a:r>
          </a:p>
          <a:p>
            <a:pPr marL="201168" lvl="1" indent="0">
              <a:buNone/>
            </a:pPr>
            <a:endParaRPr lang="en-IN" b="1" dirty="0"/>
          </a:p>
          <a:p>
            <a:pPr marL="201168" lvl="1" indent="0">
              <a:buNone/>
            </a:pPr>
            <a:endParaRPr lang="en-IN" b="1" dirty="0"/>
          </a:p>
          <a:p>
            <a:pPr marL="201168" lvl="1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975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B508-E864-05EF-404B-94A3B0ABB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Insight</a:t>
            </a:r>
            <a:r>
              <a:rPr lang="en-IN" dirty="0"/>
              <a:t>s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F97DB6F4-0B04-1402-9204-53A02ECCA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087" y="1828800"/>
            <a:ext cx="5583826" cy="46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6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2795-18A7-62C6-5EE3-E140A009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pic>
        <p:nvPicPr>
          <p:cNvPr id="6" name="Content Placeholder 4" descr="A close-up of a pie chart">
            <a:extLst>
              <a:ext uri="{FF2B5EF4-FFF2-40B4-BE49-F238E27FC236}">
                <a16:creationId xmlns:a16="http://schemas.microsoft.com/office/drawing/2014/main" id="{168437F9-44E6-459B-17D2-F52648610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494645"/>
            <a:ext cx="10058400" cy="2725960"/>
          </a:xfrm>
        </p:spPr>
      </p:pic>
    </p:spTree>
    <p:extLst>
      <p:ext uri="{BB962C8B-B14F-4D97-AF65-F5344CB8AC3E}">
        <p14:creationId xmlns:p14="http://schemas.microsoft.com/office/powerpoint/2010/main" val="43817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2411-70AC-77F3-4FBC-5AF2B3C4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8F04E8-9EC5-379C-340B-12A9AA1E7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66" y="1955380"/>
            <a:ext cx="9280983" cy="1903388"/>
          </a:xfrm>
        </p:spPr>
      </p:pic>
    </p:spTree>
    <p:extLst>
      <p:ext uri="{BB962C8B-B14F-4D97-AF65-F5344CB8AC3E}">
        <p14:creationId xmlns:p14="http://schemas.microsoft.com/office/powerpoint/2010/main" val="225216951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184</TotalTime>
  <Words>1032</Words>
  <Application>Microsoft Office PowerPoint</Application>
  <PresentationFormat>Widescreen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CMBX12</vt:lpstr>
      <vt:lpstr>-webkit-standard</vt:lpstr>
      <vt:lpstr>Retrospect</vt:lpstr>
      <vt:lpstr>Word Order in News Texts</vt:lpstr>
      <vt:lpstr>Research Question</vt:lpstr>
      <vt:lpstr>Data Collection</vt:lpstr>
      <vt:lpstr>Preprocessing Pipeline</vt:lpstr>
      <vt:lpstr>Lingustic Annotation</vt:lpstr>
      <vt:lpstr>Ground Truths using Stanza</vt:lpstr>
      <vt:lpstr>Stanza Annotation Evaluation</vt:lpstr>
      <vt:lpstr>Confusion Matrix: Per Language</vt:lpstr>
      <vt:lpstr>Error Analysis: Insights</vt:lpstr>
      <vt:lpstr>Rule-Based Baseline: Simple Heuristic</vt:lpstr>
      <vt:lpstr>Rule-Based Baseline: POS pattern</vt:lpstr>
      <vt:lpstr>ML Classifier for Word Order</vt:lpstr>
      <vt:lpstr>Evaluation: ML Classifier </vt:lpstr>
      <vt:lpstr>Insights</vt:lpstr>
      <vt:lpstr>Insights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Jacob</dc:creator>
  <cp:lastModifiedBy>Emily Jacob</cp:lastModifiedBy>
  <cp:revision>11</cp:revision>
  <dcterms:created xsi:type="dcterms:W3CDTF">2026-01-15T19:54:39Z</dcterms:created>
  <dcterms:modified xsi:type="dcterms:W3CDTF">2026-01-15T22:58:50Z</dcterms:modified>
</cp:coreProperties>
</file>